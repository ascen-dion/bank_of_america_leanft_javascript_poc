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69" r:id="rId3"/>
    <p:sldId id="256" r:id="rId4"/>
    <p:sldId id="257" r:id="rId5"/>
    <p:sldId id="258" r:id="rId6"/>
    <p:sldId id="259" r:id="rId7"/>
    <p:sldId id="260" r:id="rId8"/>
    <p:sldId id="267" r:id="rId9"/>
    <p:sldId id="261" r:id="rId10"/>
    <p:sldId id="262" r:id="rId11"/>
    <p:sldId id="263" r:id="rId12"/>
    <p:sldId id="265" r:id="rId13"/>
    <p:sldId id="270" r:id="rId14"/>
    <p:sldId id="266" r:id="rId15"/>
    <p:sldId id="271" r:id="rId16"/>
    <p:sldId id="264" r:id="rId17"/>
    <p:sldId id="268" r:id="rId18"/>
    <p:sldId id="273" r:id="rId19"/>
    <p:sldId id="272" r:id="rId20"/>
    <p:sldId id="276" r:id="rId21"/>
    <p:sldId id="277" r:id="rId22"/>
    <p:sldId id="278" r:id="rId23"/>
    <p:sldId id="279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61CA9-839F-4099-A7A3-B8CF4D7AF2DA}" v="2" dt="2026-04-24T11:00:28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love Bisen" userId="46f1591d-eef5-4397-b72d-ff9377ac01bf" providerId="ADAL" clId="{133C2016-0089-4AFF-B7EF-FB7D92197C6A}"/>
    <pc:docChg chg="addSld modSld sldOrd">
      <pc:chgData name="Viplove Bisen" userId="46f1591d-eef5-4397-b72d-ff9377ac01bf" providerId="ADAL" clId="{133C2016-0089-4AFF-B7EF-FB7D92197C6A}" dt="2026-04-24T11:02:00.239" v="147" actId="1076"/>
      <pc:docMkLst>
        <pc:docMk/>
      </pc:docMkLst>
      <pc:sldChg chg="modSp mod">
        <pc:chgData name="Viplove Bisen" userId="46f1591d-eef5-4397-b72d-ff9377ac01bf" providerId="ADAL" clId="{133C2016-0089-4AFF-B7EF-FB7D92197C6A}" dt="2026-04-22T11:18:00.268" v="33" actId="14100"/>
        <pc:sldMkLst>
          <pc:docMk/>
          <pc:sldMk cId="0" sldId="256"/>
        </pc:sldMkLst>
        <pc:spChg chg="mod">
          <ac:chgData name="Viplove Bisen" userId="46f1591d-eef5-4397-b72d-ff9377ac01bf" providerId="ADAL" clId="{133C2016-0089-4AFF-B7EF-FB7D92197C6A}" dt="2026-04-22T09:53:59.415" v="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11:17:49.773" v="3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11:18:00.268" v="33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9:54:38.710" v="1" actId="14100"/>
        <pc:sldMkLst>
          <pc:docMk/>
          <pc:sldMk cId="0" sldId="258"/>
        </pc:sldMkLst>
        <pc:spChg chg="mod">
          <ac:chgData name="Viplove Bisen" userId="46f1591d-eef5-4397-b72d-ff9377ac01bf" providerId="ADAL" clId="{133C2016-0089-4AFF-B7EF-FB7D92197C6A}" dt="2026-04-22T09:54:38.710" v="1" actId="14100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10:16:24.503" v="10" actId="20577"/>
        <pc:sldMkLst>
          <pc:docMk/>
          <pc:sldMk cId="0" sldId="259"/>
        </pc:sldMkLst>
        <pc:graphicFrameChg chg="modGraphic">
          <ac:chgData name="Viplove Bisen" userId="46f1591d-eef5-4397-b72d-ff9377ac01bf" providerId="ADAL" clId="{133C2016-0089-4AFF-B7EF-FB7D92197C6A}" dt="2026-04-22T10:16:24.503" v="10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Viplove Bisen" userId="46f1591d-eef5-4397-b72d-ff9377ac01bf" providerId="ADAL" clId="{133C2016-0089-4AFF-B7EF-FB7D92197C6A}" dt="2026-04-22T10:52:50.611" v="20" actId="1076"/>
        <pc:sldMkLst>
          <pc:docMk/>
          <pc:sldMk cId="0" sldId="264"/>
        </pc:sldMkLst>
        <pc:spChg chg="mod">
          <ac:chgData name="Viplove Bisen" userId="46f1591d-eef5-4397-b72d-ff9377ac01bf" providerId="ADAL" clId="{133C2016-0089-4AFF-B7EF-FB7D92197C6A}" dt="2026-04-22T10:52:50.611" v="20" actId="107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10:03:17.059" v="2" actId="207"/>
        <pc:sldMkLst>
          <pc:docMk/>
          <pc:sldMk cId="0" sldId="265"/>
        </pc:sldMkLst>
        <pc:spChg chg="mod">
          <ac:chgData name="Viplove Bisen" userId="46f1591d-eef5-4397-b72d-ff9377ac01bf" providerId="ADAL" clId="{133C2016-0089-4AFF-B7EF-FB7D92197C6A}" dt="2026-04-22T10:03:17.059" v="2" actId="20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10:03:27.559" v="4" actId="207"/>
        <pc:sldMkLst>
          <pc:docMk/>
          <pc:sldMk cId="0" sldId="266"/>
        </pc:sldMkLst>
        <pc:spChg chg="mod">
          <ac:chgData name="Viplove Bisen" userId="46f1591d-eef5-4397-b72d-ff9377ac01bf" providerId="ADAL" clId="{133C2016-0089-4AFF-B7EF-FB7D92197C6A}" dt="2026-04-22T10:03:27.559" v="4" actId="20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10:52:38.301" v="19" actId="14100"/>
        <pc:sldMkLst>
          <pc:docMk/>
          <pc:sldMk cId="2051443410" sldId="268"/>
        </pc:sldMkLst>
        <pc:spChg chg="mod">
          <ac:chgData name="Viplove Bisen" userId="46f1591d-eef5-4397-b72d-ff9377ac01bf" providerId="ADAL" clId="{133C2016-0089-4AFF-B7EF-FB7D92197C6A}" dt="2026-04-22T10:52:38.301" v="19" actId="14100"/>
          <ac:spMkLst>
            <pc:docMk/>
            <pc:sldMk cId="2051443410" sldId="268"/>
            <ac:spMk id="16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10:55:09.124" v="21" actId="1035"/>
        <pc:sldMkLst>
          <pc:docMk/>
          <pc:sldMk cId="4048748352" sldId="271"/>
        </pc:sldMkLst>
        <pc:picChg chg="mod">
          <ac:chgData name="Viplove Bisen" userId="46f1591d-eef5-4397-b72d-ff9377ac01bf" providerId="ADAL" clId="{133C2016-0089-4AFF-B7EF-FB7D92197C6A}" dt="2026-04-22T10:55:09.124" v="21" actId="1035"/>
          <ac:picMkLst>
            <pc:docMk/>
            <pc:sldMk cId="4048748352" sldId="271"/>
            <ac:picMk id="3" creationId="{4876DB31-EEB9-ABF2-615C-52D80893742B}"/>
          </ac:picMkLst>
        </pc:picChg>
      </pc:sldChg>
      <pc:sldChg chg="modSp mod ord">
        <pc:chgData name="Viplove Bisen" userId="46f1591d-eef5-4397-b72d-ff9377ac01bf" providerId="ADAL" clId="{133C2016-0089-4AFF-B7EF-FB7D92197C6A}" dt="2026-04-22T11:21:07.964" v="35"/>
        <pc:sldMkLst>
          <pc:docMk/>
          <pc:sldMk cId="3416495662" sldId="272"/>
        </pc:sldMkLst>
        <pc:graphicFrameChg chg="modGraphic">
          <ac:chgData name="Viplove Bisen" userId="46f1591d-eef5-4397-b72d-ff9377ac01bf" providerId="ADAL" clId="{133C2016-0089-4AFF-B7EF-FB7D92197C6A}" dt="2026-04-22T10:44:57.099" v="18" actId="20577"/>
          <ac:graphicFrameMkLst>
            <pc:docMk/>
            <pc:sldMk cId="3416495662" sldId="272"/>
            <ac:graphicFrameMk id="3" creationId="{5A74E7CB-6861-101B-B7F8-5FBA9BE193EF}"/>
          </ac:graphicFrameMkLst>
        </pc:graphicFrameChg>
      </pc:sldChg>
      <pc:sldChg chg="addSp modSp new mod">
        <pc:chgData name="Viplove Bisen" userId="46f1591d-eef5-4397-b72d-ff9377ac01bf" providerId="ADAL" clId="{133C2016-0089-4AFF-B7EF-FB7D92197C6A}" dt="2026-04-22T11:16:40.524" v="29" actId="1076"/>
        <pc:sldMkLst>
          <pc:docMk/>
          <pc:sldMk cId="1150477677" sldId="273"/>
        </pc:sldMkLst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2" creationId="{A144149F-81BC-8176-7AA4-E4169F6AC5CD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3" creationId="{BAEF1F94-902F-86C7-B6C6-7D4368F82A41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4" creationId="{97EA21E9-971C-50EB-5338-F6CA1652C1F5}"/>
          </ac:spMkLst>
        </pc:spChg>
        <pc:spChg chg="mod">
          <ac:chgData name="Viplove Bisen" userId="46f1591d-eef5-4397-b72d-ff9377ac01bf" providerId="ADAL" clId="{133C2016-0089-4AFF-B7EF-FB7D92197C6A}" dt="2026-04-22T11:16:32.092" v="28" actId="14100"/>
          <ac:spMkLst>
            <pc:docMk/>
            <pc:sldMk cId="1150477677" sldId="273"/>
            <ac:spMk id="5" creationId="{3634B5B5-B585-4D4A-AE96-362356842085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6" creationId="{49AD708E-C3C3-E023-4650-285B73F5A226}"/>
          </ac:spMkLst>
        </pc:spChg>
        <pc:spChg chg="add mod">
          <ac:chgData name="Viplove Bisen" userId="46f1591d-eef5-4397-b72d-ff9377ac01bf" providerId="ADAL" clId="{133C2016-0089-4AFF-B7EF-FB7D92197C6A}" dt="2026-04-22T11:16:26.973" v="27" actId="14100"/>
          <ac:spMkLst>
            <pc:docMk/>
            <pc:sldMk cId="1150477677" sldId="273"/>
            <ac:spMk id="8" creationId="{FDF89A9B-B384-A717-BD9E-43ADE7923C62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10" creationId="{2690993B-C730-97B8-006C-9840BBB878D1}"/>
          </ac:spMkLst>
        </pc:spChg>
        <pc:spChg chg="add mod">
          <ac:chgData name="Viplove Bisen" userId="46f1591d-eef5-4397-b72d-ff9377ac01bf" providerId="ADAL" clId="{133C2016-0089-4AFF-B7EF-FB7D92197C6A}" dt="2026-04-22T11:16:21.473" v="26" actId="14100"/>
          <ac:spMkLst>
            <pc:docMk/>
            <pc:sldMk cId="1150477677" sldId="273"/>
            <ac:spMk id="11" creationId="{89C9C735-3BEC-5BF3-703D-15471606B799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13" creationId="{270FBDAD-2383-9DFF-6573-E190A37BB69F}"/>
          </ac:spMkLst>
        </pc:spChg>
        <pc:spChg chg="mod">
          <ac:chgData name="Viplove Bisen" userId="46f1591d-eef5-4397-b72d-ff9377ac01bf" providerId="ADAL" clId="{133C2016-0089-4AFF-B7EF-FB7D92197C6A}" dt="2026-04-22T11:15:40.230" v="25" actId="1076"/>
          <ac:spMkLst>
            <pc:docMk/>
            <pc:sldMk cId="1150477677" sldId="273"/>
            <ac:spMk id="14" creationId="{D4C86F1B-5CCD-FD3D-742C-B51C8B3600A5}"/>
          </ac:spMkLst>
        </pc:spChg>
        <pc:spChg chg="mod">
          <ac:chgData name="Viplove Bisen" userId="46f1591d-eef5-4397-b72d-ff9377ac01bf" providerId="ADAL" clId="{133C2016-0089-4AFF-B7EF-FB7D92197C6A}" dt="2026-04-22T11:16:40.524" v="29" actId="1076"/>
          <ac:spMkLst>
            <pc:docMk/>
            <pc:sldMk cId="1150477677" sldId="273"/>
            <ac:spMk id="15" creationId="{C32D9005-A9E5-7120-BB7C-B774A2ACD422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16" creationId="{D039B8FB-4BDA-31CE-94CB-A1B4BA357F77}"/>
          </ac:spMkLst>
        </pc:spChg>
        <pc:spChg chg="add mod">
          <ac:chgData name="Viplove Bisen" userId="46f1591d-eef5-4397-b72d-ff9377ac01bf" providerId="ADAL" clId="{133C2016-0089-4AFF-B7EF-FB7D92197C6A}" dt="2026-04-22T11:15:25.686" v="23"/>
          <ac:spMkLst>
            <pc:docMk/>
            <pc:sldMk cId="1150477677" sldId="273"/>
            <ac:spMk id="19" creationId="{63EECFF8-076F-C2C4-FCFE-5C994006CC59}"/>
          </ac:spMkLst>
        </pc:spChg>
      </pc:sldChg>
      <pc:sldChg chg="modSp mod">
        <pc:chgData name="Viplove Bisen" userId="46f1591d-eef5-4397-b72d-ff9377ac01bf" providerId="ADAL" clId="{133C2016-0089-4AFF-B7EF-FB7D92197C6A}" dt="2026-04-24T10:52:58.540" v="39" actId="255"/>
        <pc:sldMkLst>
          <pc:docMk/>
          <pc:sldMk cId="0" sldId="276"/>
        </pc:sldMkLst>
        <pc:spChg chg="mod">
          <ac:chgData name="Viplove Bisen" userId="46f1591d-eef5-4397-b72d-ff9377ac01bf" providerId="ADAL" clId="{133C2016-0089-4AFF-B7EF-FB7D92197C6A}" dt="2026-04-24T10:51:43.220" v="36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7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9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11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1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1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21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2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2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2:58.540" v="39" actId="255"/>
          <ac:spMkLst>
            <pc:docMk/>
            <pc:sldMk cId="0" sldId="276"/>
            <ac:spMk id="25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4T10:58:06.171" v="47" actId="1076"/>
        <pc:sldMkLst>
          <pc:docMk/>
          <pc:sldMk cId="0" sldId="277"/>
        </pc:sldMkLst>
        <pc:spChg chg="mod">
          <ac:chgData name="Viplove Bisen" userId="46f1591d-eef5-4397-b72d-ff9377ac01bf" providerId="ADAL" clId="{133C2016-0089-4AFF-B7EF-FB7D92197C6A}" dt="2026-04-24T10:58:06.171" v="47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7:46.077" v="44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16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7:39.550" v="43" actId="107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18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20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2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8:03.255" v="46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12.570" v="40" actId="255"/>
          <ac:spMkLst>
            <pc:docMk/>
            <pc:sldMk cId="0" sldId="277"/>
            <ac:spMk id="26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4T11:00:39.927" v="131" actId="20577"/>
        <pc:sldMkLst>
          <pc:docMk/>
          <pc:sldMk cId="0" sldId="278"/>
        </pc:sldMkLst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5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6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8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9:28.843" v="59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10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0:53:24.565" v="41" actId="255"/>
          <ac:spMkLst>
            <pc:docMk/>
            <pc:sldMk cId="0" sldId="278"/>
            <ac:spMk id="11" creationId="{00000000-0000-0000-0000-000000000000}"/>
          </ac:spMkLst>
        </pc:spChg>
        <pc:graphicFrameChg chg="mod modGraphic">
          <ac:chgData name="Viplove Bisen" userId="46f1591d-eef5-4397-b72d-ff9377ac01bf" providerId="ADAL" clId="{133C2016-0089-4AFF-B7EF-FB7D92197C6A}" dt="2026-04-24T11:00:39.927" v="131" actId="20577"/>
          <ac:graphicFrameMkLst>
            <pc:docMk/>
            <pc:sldMk cId="0" sldId="278"/>
            <ac:graphicFrameMk id="7" creationId="{00000000-0000-0000-0000-000000000000}"/>
          </ac:graphicFrameMkLst>
        </pc:graphicFrameChg>
      </pc:sldChg>
      <pc:sldChg chg="modSp mod">
        <pc:chgData name="Viplove Bisen" userId="46f1591d-eef5-4397-b72d-ff9377ac01bf" providerId="ADAL" clId="{133C2016-0089-4AFF-B7EF-FB7D92197C6A}" dt="2026-04-24T11:02:00.239" v="147" actId="1076"/>
        <pc:sldMkLst>
          <pc:docMk/>
          <pc:sldMk cId="0" sldId="279"/>
        </pc:sldMkLst>
        <pc:spChg chg="mod">
          <ac:chgData name="Viplove Bisen" userId="46f1591d-eef5-4397-b72d-ff9377ac01bf" providerId="ADAL" clId="{133C2016-0089-4AFF-B7EF-FB7D92197C6A}" dt="2026-04-24T11:00:54.125" v="133" actId="255"/>
          <ac:spMkLst>
            <pc:docMk/>
            <pc:sldMk cId="0" sldId="279"/>
            <ac:spMk id="6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45.615" v="144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23.509" v="140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0:54.125" v="133" actId="255"/>
          <ac:spMkLst>
            <pc:docMk/>
            <pc:sldMk cId="0" sldId="279"/>
            <ac:spMk id="1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32.735" v="142" actId="107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39.790" v="143" actId="1076"/>
          <ac:spMkLst>
            <pc:docMk/>
            <pc:sldMk cId="0" sldId="279"/>
            <ac:spMk id="18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0:54.125" v="133" actId="255"/>
          <ac:spMkLst>
            <pc:docMk/>
            <pc:sldMk cId="0" sldId="279"/>
            <ac:spMk id="2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0:59.464" v="134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02.060" v="135" actId="1076"/>
          <ac:spMkLst>
            <pc:docMk/>
            <pc:sldMk cId="0" sldId="279"/>
            <ac:spMk id="25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0:54.125" v="133" actId="255"/>
          <ac:spMkLst>
            <pc:docMk/>
            <pc:sldMk cId="0" sldId="279"/>
            <ac:spMk id="27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06.583" v="137" actId="107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53.265" v="145" actId="1076"/>
          <ac:spMkLst>
            <pc:docMk/>
            <pc:sldMk cId="0" sldId="279"/>
            <ac:spMk id="30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57.753" v="146" actId="1076"/>
          <ac:spMkLst>
            <pc:docMk/>
            <pc:sldMk cId="0" sldId="279"/>
            <ac:spMk id="31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2:00.239" v="147" actId="1076"/>
          <ac:spMkLst>
            <pc:docMk/>
            <pc:sldMk cId="0" sldId="279"/>
            <ac:spMk id="3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1:14.869" v="139" actId="1076"/>
          <ac:spMkLst>
            <pc:docMk/>
            <pc:sldMk cId="0" sldId="279"/>
            <ac:spMk id="3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4T11:00:54.125" v="133" actId="255"/>
          <ac:spMkLst>
            <pc:docMk/>
            <pc:sldMk cId="0" sldId="279"/>
            <ac:spMk id="35" creationId="{00000000-0000-0000-0000-000000000000}"/>
          </ac:spMkLst>
        </pc:spChg>
      </pc:sldChg>
    </pc:docChg>
  </pc:docChgLst>
  <pc:docChgLst>
    <pc:chgData name="Swarna Sreekar" userId="S::swarna.sreekar@ascendion.com::76a674ce-57af-4e9b-a923-9f09dd57d64d" providerId="AD" clId="Web-{983EBF70-E254-2179-B9E6-71B3A6CC76A0}"/>
    <pc:docChg chg="modSld">
      <pc:chgData name="Swarna Sreekar" userId="S::swarna.sreekar@ascendion.com::76a674ce-57af-4e9b-a923-9f09dd57d64d" providerId="AD" clId="Web-{983EBF70-E254-2179-B9E6-71B3A6CC76A0}" dt="2026-04-22T11:10:28.534" v="0" actId="1076"/>
      <pc:docMkLst>
        <pc:docMk/>
      </pc:docMkLst>
      <pc:sldChg chg="modSp">
        <pc:chgData name="Swarna Sreekar" userId="S::swarna.sreekar@ascendion.com::76a674ce-57af-4e9b-a923-9f09dd57d64d" providerId="AD" clId="Web-{983EBF70-E254-2179-B9E6-71B3A6CC76A0}" dt="2026-04-22T11:10:28.534" v="0" actId="1076"/>
        <pc:sldMkLst>
          <pc:docMk/>
          <pc:sldMk cId="0" sldId="259"/>
        </pc:sldMkLst>
        <pc:graphicFrameChg chg="mod">
          <ac:chgData name="Swarna Sreekar" userId="S::swarna.sreekar@ascendion.com::76a674ce-57af-4e9b-a923-9f09dd57d64d" providerId="AD" clId="Web-{983EBF70-E254-2179-B9E6-71B3A6CC76A0}" dt="2026-04-22T11:10:28.534" v="0" actId="1076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</pc:docChg>
  </pc:docChgLst>
  <pc:docChgLst>
    <pc:chgData name="Swarna Sreekar" userId="S::swarna.sreekar@ascendion.com::76a674ce-57af-4e9b-a923-9f09dd57d64d" providerId="AD" clId="Web-{63A0E2A2-D2C9-1C38-36B5-E251C9DF886B}"/>
    <pc:docChg chg="addSld modSld sldOrd">
      <pc:chgData name="Swarna Sreekar" userId="S::swarna.sreekar@ascendion.com::76a674ce-57af-4e9b-a923-9f09dd57d64d" providerId="AD" clId="Web-{63A0E2A2-D2C9-1C38-36B5-E251C9DF886B}" dt="2026-04-22T11:53:23.017" v="14"/>
      <pc:docMkLst>
        <pc:docMk/>
      </pc:docMkLst>
      <pc:sldChg chg="addSp delSp modSp new mod ord setBg">
        <pc:chgData name="Swarna Sreekar" userId="S::swarna.sreekar@ascendion.com::76a674ce-57af-4e9b-a923-9f09dd57d64d" providerId="AD" clId="Web-{63A0E2A2-D2C9-1C38-36B5-E251C9DF886B}" dt="2026-04-22T11:53:10.111" v="13"/>
        <pc:sldMkLst>
          <pc:docMk/>
          <pc:sldMk cId="2165242118" sldId="274"/>
        </pc:sldMkLst>
        <pc:spChg chg="add">
          <ac:chgData name="Swarna Sreekar" userId="S::swarna.sreekar@ascendion.com::76a674ce-57af-4e9b-a923-9f09dd57d64d" providerId="AD" clId="Web-{63A0E2A2-D2C9-1C38-36B5-E251C9DF886B}" dt="2026-04-22T11:53:10.111" v="13"/>
          <ac:spMkLst>
            <pc:docMk/>
            <pc:sldMk cId="2165242118" sldId="274"/>
            <ac:spMk id="42" creationId="{16B067B1-F4E5-4FDF-813D-C9E872E80075}"/>
          </ac:spMkLst>
        </pc:spChg>
        <pc:picChg chg="add mod">
          <ac:chgData name="Swarna Sreekar" userId="S::swarna.sreekar@ascendion.com::76a674ce-57af-4e9b-a923-9f09dd57d64d" providerId="AD" clId="Web-{63A0E2A2-D2C9-1C38-36B5-E251C9DF886B}" dt="2026-04-22T11:53:10.111" v="13"/>
          <ac:picMkLst>
            <pc:docMk/>
            <pc:sldMk cId="2165242118" sldId="274"/>
            <ac:picMk id="2" creationId="{2AC41EFB-73FB-BDDA-08F4-A1F0A46286FE}"/>
          </ac:picMkLst>
        </pc:picChg>
      </pc:sldChg>
      <pc:sldChg chg="addSp delSp modSp new mod setBg">
        <pc:chgData name="Swarna Sreekar" userId="S::swarna.sreekar@ascendion.com::76a674ce-57af-4e9b-a923-9f09dd57d64d" providerId="AD" clId="Web-{63A0E2A2-D2C9-1C38-36B5-E251C9DF886B}" dt="2026-04-22T11:53:23.017" v="14"/>
        <pc:sldMkLst>
          <pc:docMk/>
          <pc:sldMk cId="751235069" sldId="275"/>
        </pc:sldMkLst>
        <pc:spChg chg="add">
          <ac:chgData name="Swarna Sreekar" userId="S::swarna.sreekar@ascendion.com::76a674ce-57af-4e9b-a923-9f09dd57d64d" providerId="AD" clId="Web-{63A0E2A2-D2C9-1C38-36B5-E251C9DF886B}" dt="2026-04-22T11:53:23.017" v="14"/>
          <ac:spMkLst>
            <pc:docMk/>
            <pc:sldMk cId="751235069" sldId="275"/>
            <ac:spMk id="24" creationId="{16B067B1-F4E5-4FDF-813D-C9E872E80075}"/>
          </ac:spMkLst>
        </pc:spChg>
        <pc:picChg chg="add mod">
          <ac:chgData name="Swarna Sreekar" userId="S::swarna.sreekar@ascendion.com::76a674ce-57af-4e9b-a923-9f09dd57d64d" providerId="AD" clId="Web-{63A0E2A2-D2C9-1C38-36B5-E251C9DF886B}" dt="2026-04-22T11:53:23.017" v="14"/>
          <ac:picMkLst>
            <pc:docMk/>
            <pc:sldMk cId="751235069" sldId="275"/>
            <ac:picMk id="2" creationId="{556335C2-A4CB-3892-F041-838A321A0B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[🎨 Design Note: Title Slide]&#10;Background: Clean White (#FFFFFF) or very light gray.&#10;Main Text: Deep Corporate Blue.&#10;Layout: Centered, highly professional.&#10;&#10;[Header - Deep Corporate Blue, Bold, Size 44+]&#10;Jarvis Modernization Approaches&#10;&#10;[Sub-Header - Dark Gray, Regular, Size 28]&#10;Modernizing UFT VBScript Mainframe Automation&#10;&#10;[Spacer - Thin Light Gray Horizontal Line]&#10;&#10;&#10;[Footer - Bottom Left, Small Font, Light Gray]&#10;Ascendion | BOA Jarvis to LeanFT Migration Plan">
            <a:extLst>
              <a:ext uri="{FF2B5EF4-FFF2-40B4-BE49-F238E27FC236}">
                <a16:creationId xmlns:a16="http://schemas.microsoft.com/office/drawing/2014/main" id="{2AC41EFB-73FB-BDDA-08F4-A1F0A462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9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4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CD843-44F6-7388-2E3A-D964CE67E9A1}"/>
              </a:ext>
            </a:extLst>
          </p:cNvPr>
          <p:cNvSpPr txBox="1"/>
          <p:nvPr/>
        </p:nvSpPr>
        <p:spPr>
          <a:xfrm>
            <a:off x="448056" y="292608"/>
            <a:ext cx="8138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rPr>
                <a:solidFill>
                  <a:srgbClr val="7030A0"/>
                </a:solidFill>
              </a:rPr>
              <a:t>Jarvis Modernization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134E6-0A9E-5CBA-90F1-759768E39863}"/>
              </a:ext>
            </a:extLst>
          </p:cNvPr>
          <p:cNvSpPr txBox="1"/>
          <p:nvPr/>
        </p:nvSpPr>
        <p:spPr>
          <a:xfrm>
            <a:off x="585216" y="1045524"/>
            <a:ext cx="786384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rPr>
                <a:solidFill>
                  <a:srgbClr val="7030A0"/>
                </a:solidFill>
              </a:rPr>
              <a:t>Three POC options </a:t>
            </a:r>
            <a:r>
              <a:rPr lang="en-US">
                <a:solidFill>
                  <a:srgbClr val="7030A0"/>
                </a:solidFill>
              </a:rPr>
              <a:t>tried </a:t>
            </a:r>
            <a:r>
              <a:rPr>
                <a:solidFill>
                  <a:srgbClr val="7030A0"/>
                </a:solidFill>
              </a:rPr>
              <a:t>to modernize UFT VBScript mainframe automation:</a:t>
            </a:r>
            <a:endParaRPr lang="en-US">
              <a:solidFill>
                <a:srgbClr val="7030A0"/>
              </a:solidFill>
            </a:endParaRPr>
          </a:p>
          <a:p>
            <a:pPr algn="l">
              <a:defRPr sz="1600" b="0">
                <a:solidFill>
                  <a:srgbClr val="475569"/>
                </a:solidFill>
              </a:defRPr>
            </a:pPr>
            <a:r>
              <a:rPr>
                <a:solidFill>
                  <a:srgbClr val="7030A0"/>
                </a:solidFill>
              </a:rPr>
              <a:t> </a:t>
            </a:r>
            <a:endParaRPr lang="en-US">
              <a:solidFill>
                <a:srgbClr val="7030A0"/>
              </a:solidFill>
            </a:endParaRPr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 err="1">
                <a:solidFill>
                  <a:srgbClr val="7030A0"/>
                </a:solidFill>
              </a:rPr>
              <a:t>LeanFT</a:t>
            </a:r>
            <a:r>
              <a:rPr>
                <a:solidFill>
                  <a:srgbClr val="7030A0"/>
                </a:solidFill>
              </a:rPr>
              <a:t> JavaScript</a:t>
            </a:r>
            <a:endParaRPr lang="en-US">
              <a:solidFill>
                <a:srgbClr val="7030A0"/>
              </a:solidFill>
            </a:endParaRPr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endParaRPr lang="en-US">
              <a:solidFill>
                <a:srgbClr val="7030A0"/>
              </a:solidFill>
            </a:endParaRPr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>
                <a:solidFill>
                  <a:srgbClr val="7030A0"/>
                </a:solidFill>
              </a:rPr>
              <a:t>Python py3270</a:t>
            </a:r>
            <a:endParaRPr lang="en-US">
              <a:solidFill>
                <a:srgbClr val="7030A0"/>
              </a:solidFill>
            </a:endParaRPr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endParaRPr lang="en-US">
              <a:solidFill>
                <a:srgbClr val="7030A0"/>
              </a:solidFill>
            </a:endParaRPr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 err="1">
                <a:solidFill>
                  <a:srgbClr val="7030A0"/>
                </a:solidFill>
              </a:rPr>
              <a:t>LeanFT</a:t>
            </a:r>
            <a:r>
              <a:rPr>
                <a:solidFill>
                  <a:srgbClr val="7030A0"/>
                </a:solidFill>
              </a:rPr>
              <a:t> Java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AC6F24-6BC8-1BF3-27EF-4837A110BF81}"/>
              </a:ext>
            </a:extLst>
          </p:cNvPr>
          <p:cNvSpPr/>
          <p:nvPr/>
        </p:nvSpPr>
        <p:spPr>
          <a:xfrm>
            <a:off x="685800" y="2999232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46D39-02E9-4990-3D02-BA6483325B71}"/>
              </a:ext>
            </a:extLst>
          </p:cNvPr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Approach 1: LeanFT JavaScript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8BA10-E86A-775F-D408-9DE32DF0AB32}"/>
              </a:ext>
            </a:extLst>
          </p:cNvPr>
          <p:cNvSpPr txBox="1"/>
          <p:nvPr/>
        </p:nvSpPr>
        <p:spPr>
          <a:xfrm>
            <a:off x="822960" y="3273552"/>
            <a:ext cx="306324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VS Code, Jasmine, and JavaScript-based </a:t>
            </a:r>
            <a:r>
              <a:rPr sz="1200" err="1"/>
              <a:t>LeanFT</a:t>
            </a:r>
            <a:r>
              <a:rPr sz="1200"/>
              <a:t> framework.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Strong fit when the team wants modern scripting with </a:t>
            </a:r>
            <a:r>
              <a:rPr sz="1200" err="1"/>
              <a:t>LeanFT</a:t>
            </a:r>
            <a:r>
              <a:rPr sz="1200"/>
              <a:t> support.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470B97-D2F2-1A3D-0F54-29A64EF25235}"/>
              </a:ext>
            </a:extLst>
          </p:cNvPr>
          <p:cNvSpPr/>
          <p:nvPr/>
        </p:nvSpPr>
        <p:spPr>
          <a:xfrm>
            <a:off x="4229100" y="2999232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BE0D5-4E1B-4BB7-FA37-A7DA07C9BF96}"/>
              </a:ext>
            </a:extLst>
          </p:cNvPr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Approach 2: Python py3270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D3EA8-DECE-E521-C66A-9F6E05667086}"/>
              </a:ext>
            </a:extLst>
          </p:cNvPr>
          <p:cNvSpPr txBox="1"/>
          <p:nvPr/>
        </p:nvSpPr>
        <p:spPr>
          <a:xfrm>
            <a:off x="4297680" y="3273552"/>
            <a:ext cx="306324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Open-source, zero-license option using </a:t>
            </a:r>
            <a:r>
              <a:rPr sz="1200" err="1"/>
              <a:t>pytest</a:t>
            </a:r>
            <a:r>
              <a:rPr sz="1200"/>
              <a:t> and direct TN3270 socket access.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Strong fit when BOA prefers a lower-cost, headless automation model.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501978-5E2D-2103-ECE7-C9EF30D0C27A}"/>
              </a:ext>
            </a:extLst>
          </p:cNvPr>
          <p:cNvSpPr/>
          <p:nvPr/>
        </p:nvSpPr>
        <p:spPr>
          <a:xfrm>
            <a:off x="7635240" y="2962656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EAC412-EFF3-11F2-3E9C-89ED29DB850B}"/>
              </a:ext>
            </a:extLst>
          </p:cNvPr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Approach 3: LeanFT 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1CE25-FCBA-9B38-CDC2-E54218131FC0}"/>
              </a:ext>
            </a:extLst>
          </p:cNvPr>
          <p:cNvSpPr txBox="1"/>
          <p:nvPr/>
        </p:nvSpPr>
        <p:spPr>
          <a:xfrm>
            <a:off x="7772400" y="3335108"/>
            <a:ext cx="329184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Java, TestNG, and Maven-based </a:t>
            </a:r>
            <a:r>
              <a:rPr err="1"/>
              <a:t>LeanFT</a:t>
            </a:r>
            <a:r>
              <a:t> implementation.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Strong fit when BOA prefers a typed enterprise Java stack.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AD8B7-B985-4722-A04B-3FA5DBBF173F}"/>
              </a:ext>
            </a:extLst>
          </p:cNvPr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99E22-A15C-C36E-594C-7A11EEAA308E}"/>
              </a:ext>
            </a:extLst>
          </p:cNvPr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F225B-7536-3834-CCF0-A799F93AA231}"/>
              </a:ext>
            </a:extLst>
          </p:cNvPr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5489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-43273"/>
            <a:ext cx="7863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rPr lang="en-US" sz="2400"/>
              <a:t>Approach 1 : </a:t>
            </a:r>
            <a:r>
              <a:rPr sz="2400"/>
              <a:t>Jarvis to </a:t>
            </a:r>
            <a:r>
              <a:rPr sz="2400" err="1"/>
              <a:t>LeanFT</a:t>
            </a:r>
            <a:r>
              <a:rPr sz="2400"/>
              <a:t> JavaScript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5895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Modernizing UFT VBScript mainframe automation</a:t>
            </a:r>
            <a:endParaRPr lang="en-US"/>
          </a:p>
          <a:p>
            <a:pPr algn="l">
              <a:defRPr sz="1600" b="0">
                <a:solidFill>
                  <a:srgbClr val="475569"/>
                </a:solidFill>
              </a:defRPr>
            </a:pPr>
            <a:r>
              <a:t>to a VS Code, Jasmine, and </a:t>
            </a:r>
            <a:r>
              <a:rPr err="1"/>
              <a:t>LeanFT</a:t>
            </a:r>
            <a:r>
              <a:t> engineering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896112"/>
            <a:ext cx="3566160" cy="1920240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143000"/>
            <a:ext cx="2926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9250C"/>
                </a:solidFill>
              </a:defRPr>
            </a:pPr>
            <a:r>
              <a:rPr lang="en-US"/>
              <a:t>O</a:t>
            </a:r>
            <a:r>
              <a:t>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Preserve the layered Jarvis design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Modernize language, tooling, and CI/CD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Show a practical migration factory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306324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err="1"/>
              <a:t>LeanFT</a:t>
            </a:r>
            <a:r>
              <a:t> JavaScript can drive TN3270 through an existing HLLAPI-capable emulator.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Jarvis concepts map cleanly into driver, keyword, object repository, data, config, and reporting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POC flows 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306324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Login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Account Inquiry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Funds Transfer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t>Jenkins execution across SIT and UAT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Evidence used for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3291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Architecture docs in docs/01 and docs/02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Framework context files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Actual runner.js, terminalHelper.js, screens.js, and Jasmine spec implementation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migration does not require rethinking the testing model. It modernizes the implementation stack and delivery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155448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Current-state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depends on VBScript, UFT artifacts, XML flows, and binary object repository assets that are harder to diff, review, and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5760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Target-state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new framework keeps the same layered design but uses LeanFT JavaScript, Jasmine, plain-text screen definitions, JSON or Excel-backed test data, and Jenkins-ready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31546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8105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84832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Faster onboarding, cleaner Git visibility, better IDE support, and an AI-assisted migration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remains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Layered automation design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Keyword-driven mainframe interactions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Central object repository and external configuration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Data-driven execution and Jenkins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improves materially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VBScript to modern JavaScript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Binary assets to plain-text source-controlled files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UFT-centric authoring to VS Code + GitHub Copilot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Manual migration effort reduced by a deterministic BOA migration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Current State Architecture: Jarvis / UFT / VBScript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742" y="1304597"/>
            <a:ext cx="756681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current model is modular, but several layers are implemented with older and more opaque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Spreadsheet-driven suite definitions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Execution entry point for business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XML flow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Externalized step sequencing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Spreadsheet-based data 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Separate from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/ UFT driver-runner model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Scenario coordination and playback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.qfl VBScript keyword libraries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Reusable screen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.tsr or .mtr assets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Binary-style repository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Config templates and runtime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HTML reports and zipped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integration present, but framework tooling remains UFT-centric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1042889"/>
            <a:ext cx="1691640" cy="50292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77658" y="1130861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186853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VBScript deprecation risk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Harder Git diff and code review experience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Less developer-friendly tooling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Manual migration of legacy assets is slower without structured accelerators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Mapping: Jarvis Components to the New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POC preserves the business testing intent while swapping each legacy layer for a modern equivalent.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28556"/>
              </p:ext>
            </p:extLst>
          </p:nvPr>
        </p:nvGraphicFramePr>
        <p:xfrm>
          <a:off x="514293" y="1554935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Jarvis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Current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spec/ftdtest_jasmine_spec.js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Jasmine JavaScript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describe / it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Native JavaScript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testdata JSON + xlsx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JSON or Excel via 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proprietary runner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driver/runner.js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LeanFT SDK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.qfl VBScript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libraries/terminalHelper.js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Reusable JS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.tsr / .mtr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rPr err="1"/>
                        <a:t>objectrepository</a:t>
                      </a:r>
                      <a:r>
                        <a:t>/screens.js</a:t>
                      </a:r>
                      <a:r>
                        <a:rPr lang="en-US"/>
                        <a:t>/.tsrx</a:t>
                      </a: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Plain-text screen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config/settings.js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Node module + env vars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results/ LeanFT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HTML report with snapshots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Parameterized SIT / UAT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 is a migration with continuity, not a rewrite with loss of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Target Architecture: LeanFT JavaScript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implementation already present in the POC follows a modern, reviewable, and modular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Jasmine spec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Business scenarios and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42316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Driver /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init / cleanup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Shared TE session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42316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terminalHelper.js keywords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Mainframe business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423160" cy="11430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screens.js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Identifiers, fields, and key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JSON default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Excel support via 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settings.js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 short name, env, timeouts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Snapshots and pass/fail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SIT / UAT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Filterable suite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303520"/>
            <a:ext cx="448056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468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IBM Mainframe through an existing HLLAPI-capable terminal emulator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839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8392" y="4846320"/>
            <a:ext cx="0" cy="4572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612648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Important architecture note: LeanFT does not open TN3270 directly; it automates an already-running emulator session via HLLAPI.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1B31C-4B84-B454-DD19-C33C0F25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Why This Framework Is Better for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technical modernization is paired with a better authoring and migration experience for the QE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Engineering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JavaScript is closer to VBScript than Java or C#, which reduces training friction.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VS Code provides a lightweight and familiar IDE with Git-native workflows.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Plain-text repository assets are easier to review, diff, branch, and promote.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Jasmine plus npm gives a simple, CI-friendly execution model.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JSON-first test data can still coexist with Excel input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Acceleration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8463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GitHub Copilot can assist with routine coding, refactoring, and test authoring inside VS Code.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repo includes a BOA migration agent that reads project context, maps VBScript constructs, generates Jasmine skeletons, and flags only the steps that need manual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agent provides a migration delta report, giving traceability from automated translation to remaining manual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06070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10058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he target stack improves both automation maintainability and migration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Suggested Migration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factory model is safer than a big-bang conversion. The POC and BOA migration agent support this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1.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Inventory current suites, libraries, flows, data, and object repository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2.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Map Jarvis constructs to the LeanFT JavaScript framework and identify manual-only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3.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Stabilize target framework layers, CI settings, reporting, and environment conventions.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4.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Migrate representative high-value flows such as login, account inquiry, and funds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5. Industrialize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 Copilot and the migration agent to accelerate repetitive conversions with guardrails.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6.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Expand by application area, validate SIT and UAT behavior, and retire legacy suites in waves.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How the accelerator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62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Loads framework and migration context before translation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Maps known VBScript and UFT constructs deterministically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Creates skeletons, keyword translations, and a migration delta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Operating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the known mappings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Flag anything that requires live environment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Do not guess locators, credentials, or environment-specific identifiers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Risks and How to Control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main risks are known upfront and can be managed with the right pilot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58744"/>
              </p:ext>
            </p:extLst>
          </p:nvPr>
        </p:nvGraphicFramePr>
        <p:xfrm>
          <a:off x="640080" y="17830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Risk or dependency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Mitigation in the proposed plan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Screen locators must match live emulator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Capture and validate attachedText values using the LeanFT Object Identification Center; do not guess them 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Screen identifiers can vary by environment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Validate identifiers in SIT and UAT during pilot onboarding and keep them centralized in screens.js.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Credentials and sensitive data must not be 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credentials out of specs and use managed external test data and environment configuration.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Some custom Jarvis keywords may not have a direct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Use the migration agent to flag keyword gaps and implement them once in terminalHelper.js for reuse.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Citrix or non-3270 surfaces may require separate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the first migration wave focused on standard TN3270 automation; assess exceptional channels separately.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Execution still depends on a running emulator 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Document emulator setup, session short names, and Jenkins runtime configuration as part of environment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2613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rPr>
                <a:solidFill>
                  <a:srgbClr val="7030A0"/>
                </a:solidFill>
              </a:rPr>
              <a:t>A</a:t>
            </a:r>
            <a:r>
              <a:rPr lang="en-US">
                <a:solidFill>
                  <a:srgbClr val="7030A0"/>
                </a:solidFill>
              </a:rPr>
              <a:t>pproach 2</a:t>
            </a:r>
            <a:r>
              <a:rPr>
                <a:solidFill>
                  <a:srgbClr val="7030A0"/>
                </a:solidFill>
              </a:rPr>
              <a:t>: Python / py3270 Open-Source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second branch demonstrates a lower-cost modernization path using Python, pytest, and direct TN3270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Branch: python_based_open_source_poc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Python 3.10+, py3270, pytest, pytest-html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Direct TN3270 over s3270 subprocess, no LeanFT, no HLLAPI, no emulator license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pytest suite -&gt; runner.py -&gt; terminal_helper.py -&gt; py3270 -&gt; s3270 -&gt; TN3270 socket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retained: config, driver, action layer, object repository, test data,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rPr lang="en-US"/>
              <a:t>Advantage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Zero licensing cost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Headless execution model suited for CI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Useful as an alternate modernization option if BOA prefers open-source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differences from the LeanFT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Python instead of JavaScript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pytest instead of Jasmine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Direct socket connectivity instead of emulator-driven HLLAPI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 as an optional open-source alternate path, not a replacement for the primary </a:t>
            </a:r>
            <a:r>
              <a:rPr err="1"/>
              <a:t>LeanFT</a:t>
            </a:r>
            <a:r>
              <a:t> migration story unless BOA wants a no-license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F5B21-AC36-90B5-4B88-9E1F04F2B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17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0584"/>
            <a:ext cx="47716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rPr lang="en-US">
                <a:solidFill>
                  <a:srgbClr val="7030A0"/>
                </a:solidFill>
              </a:rPr>
              <a:t>Approach 3</a:t>
            </a:r>
            <a:r>
              <a:rPr>
                <a:solidFill>
                  <a:srgbClr val="7030A0"/>
                </a:solidFill>
              </a:rPr>
              <a:t>: Java / </a:t>
            </a:r>
            <a:r>
              <a:rPr err="1">
                <a:solidFill>
                  <a:srgbClr val="7030A0"/>
                </a:solidFill>
              </a:rPr>
              <a:t>LeanFT</a:t>
            </a:r>
            <a:r>
              <a:rPr>
                <a:solidFill>
                  <a:srgbClr val="7030A0"/>
                </a:solidFill>
              </a:rPr>
              <a:t>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This branch also shows a Java-based LeanFT implementation for teams that prefer a Java and Maven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Java 11+, </a:t>
            </a:r>
            <a:r>
              <a:rPr err="1"/>
              <a:t>LeanFT</a:t>
            </a:r>
            <a:r>
              <a:t> runtime engine, TestNG, Maven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 files: BaseTest.java, TerminalHelper.java, Screens.java, FtdMainframeTest.java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err="1"/>
              <a:t>LeanFT</a:t>
            </a:r>
            <a:r>
              <a:t> HTML reporting with screenshots and step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TestNG suite -&gt; BaseTest -&gt; TerminalHelper -&gt; LeanFT TE SDK -&gt; terminal emulator session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preserved with config, data provider, object repository, action layer,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Suitable if BOA has stronger Java engineering alignment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Fits enterprise Maven and TestNG delivery patterns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Still modernizes Jarvis while staying within the LeanFT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Java instead of JavaScript or Python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TestNG and Maven instead of Jasmine or </a:t>
            </a:r>
            <a:r>
              <a:rPr err="1"/>
              <a:t>pytest</a:t>
            </a: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Requires </a:t>
            </a:r>
            <a:r>
              <a:rPr err="1"/>
              <a:t>LeanFT</a:t>
            </a:r>
            <a:r>
              <a:t> runtime and terminal emulator-based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</a:t>
            </a:r>
            <a:r>
              <a:rPr lang="en-US"/>
              <a:t> is a </a:t>
            </a:r>
            <a:r>
              <a:t>second </a:t>
            </a:r>
            <a:r>
              <a:rPr err="1"/>
              <a:t>LeanFT</a:t>
            </a:r>
            <a:r>
              <a:t>-based option for teams that want a typed Java stack and Maven-style enterprise delivery rather than the JavaScript implementation.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6DB31-EEB9-ABF2-615C-52D80893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"/>
            <a:ext cx="12192000" cy="66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48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Recommended Pilot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the current POC as the demonstration baseline, then move into a controlled pilot migration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31136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3 to 5 representative business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login or navigation pattern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inquiry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transaction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SIT and UAT execution through Jenkins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Functional parity with selected Jarvis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Stable object repository and environment settings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Repeatable CI execution and report publication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Measured reduction in migration effort for each additional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196596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Immediate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Confirm pilot scope and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Capture live locators for pilot screens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Prioritize Jarvis suites by reuse and business value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Define governance for AI-assisted migration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-4728" y="1091762"/>
            <a:ext cx="5349240" cy="4674476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516" y="1420992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rPr sz="1600"/>
              <a:t>What we need from Bank of America to 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432" y="2471030"/>
            <a:ext cx="50749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Access to a BOA test environment with the actual mainframe application and representative user journeys.</a:t>
            </a:r>
            <a:endParaRPr lang="en-US"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One BOA-side SME, tester, or engineer working closely with us to validate screens, navigation, and expected results</a:t>
            </a:r>
            <a:r>
              <a:rPr lang="en-US" sz="1400"/>
              <a:t>. Once we are inside BOA network</a:t>
            </a:r>
            <a:r>
              <a:rPr sz="1400"/>
              <a:t>.</a:t>
            </a:r>
            <a:endParaRPr lang="en-US"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Support to configure the terminal emulator, session short names, host connectivity, and any environment-specific runtime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6359" y="1091762"/>
            <a:ext cx="5029200" cy="4943751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6757" y="1311953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rPr sz="1600"/>
              <a:t>Dependencies and open questions for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221" y="2493556"/>
            <a:ext cx="4754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Which BOA environments are available for SIT, UAT, or pilot execution?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What emulator, access controls, credentials handling, and network prerequisites are required?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Which flows, test data, and application variants should be the first migration wave?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Are there any BOA-specific dependencies such as Citrix, middleware hops, or security approvals we should plan for?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755" y="6121735"/>
            <a:ext cx="1004751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59250C"/>
                </a:solidFill>
              </a:defRPr>
            </a:pPr>
            <a:r>
              <a:rPr lang="en-US" sz="1600"/>
              <a:t>T</a:t>
            </a:r>
            <a:r>
              <a:rPr sz="1600"/>
              <a:t>o move beyond the current POC, one of the team members should work with BOA in the real environment to complete setup, validate locators, and industrialize the migration path.</a:t>
            </a:r>
          </a:p>
        </p:txBody>
      </p:sp>
    </p:spTree>
    <p:extLst>
      <p:ext uri="{BB962C8B-B14F-4D97-AF65-F5344CB8AC3E}">
        <p14:creationId xmlns:p14="http://schemas.microsoft.com/office/powerpoint/2010/main" val="2051443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4149F-81BC-8176-7AA4-E4169F6AC5CD}"/>
              </a:ext>
            </a:extLst>
          </p:cNvPr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BOA Mainframe Migration Agent: Jarvis → </a:t>
            </a:r>
            <a:r>
              <a:rPr sz="2200" b="1" err="1">
                <a:solidFill>
                  <a:srgbClr val="1E293B"/>
                </a:solidFill>
              </a:rPr>
              <a:t>LeanFT</a:t>
            </a:r>
            <a:r>
              <a:rPr sz="2200" b="1">
                <a:solidFill>
                  <a:srgbClr val="1E293B"/>
                </a:solidFill>
              </a:rPr>
              <a:t>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EF1F94-902F-86C7-B6C6-7D4368F82A41}"/>
              </a:ext>
            </a:extLst>
          </p:cNvPr>
          <p:cNvSpPr/>
          <p:nvPr/>
        </p:nvSpPr>
        <p:spPr>
          <a:xfrm>
            <a:off x="548640" y="1097280"/>
            <a:ext cx="1051560" cy="109728"/>
          </a:xfrm>
          <a:prstGeom prst="roundRect">
            <a:avLst>
              <a:gd name="adj" fmla="val 20000"/>
            </a:avLst>
          </a:prstGeom>
          <a:solidFill>
            <a:srgbClr val="F265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A21E9-971C-50EB-5338-F6CA1652C1F5}"/>
              </a:ext>
            </a:extLst>
          </p:cNvPr>
          <p:cNvSpPr txBox="1"/>
          <p:nvPr/>
        </p:nvSpPr>
        <p:spPr>
          <a:xfrm>
            <a:off x="548640" y="123444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</a:rPr>
              <a:t>A context-aware VS Code Copilot agent that automates the Jarvis VBScript → LeanFT JS migration lifecycle end-to-end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4B5B5-B585-4D4A-AE96-362356842085}"/>
              </a:ext>
            </a:extLst>
          </p:cNvPr>
          <p:cNvSpPr/>
          <p:nvPr/>
        </p:nvSpPr>
        <p:spPr>
          <a:xfrm>
            <a:off x="365760" y="1691640"/>
            <a:ext cx="3429000" cy="2542032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D708E-C3C3-E023-4650-285B73F5A226}"/>
              </a:ext>
            </a:extLst>
          </p:cNvPr>
          <p:cNvSpPr txBox="1"/>
          <p:nvPr/>
        </p:nvSpPr>
        <p:spPr>
          <a:xfrm>
            <a:off x="502920" y="180136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26522"/>
                </a:solidFill>
              </a:rPr>
              <a:t>What the Agent Does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DE614-AE8F-2375-57E1-14D580422FFA}"/>
              </a:ext>
            </a:extLst>
          </p:cNvPr>
          <p:cNvSpPr txBox="1"/>
          <p:nvPr/>
        </p:nvSpPr>
        <p:spPr>
          <a:xfrm>
            <a:off x="502920" y="2148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Migrates UFT/Jarvis VBScript → </a:t>
            </a:r>
            <a:r>
              <a:rPr sz="950" err="1">
                <a:solidFill>
                  <a:srgbClr val="374151"/>
                </a:solidFill>
              </a:rPr>
              <a:t>LeanFT</a:t>
            </a:r>
            <a:r>
              <a:rPr sz="950">
                <a:solidFill>
                  <a:srgbClr val="374151"/>
                </a:solidFill>
              </a:rPr>
              <a:t> JavaScript (Jasmine)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Loads all 5 context files at startup before acting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Maps known constructs automatically — flags unknowns explicitly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Generates spec files, keywords &amp; object repo stubs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Produces a Migration Delta Report for every migration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374151"/>
                </a:solidFill>
              </a:rPr>
              <a:t>• Enforces all project guardrails on every generated 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F89A9B-B384-A717-BD9E-43ADE7923C62}"/>
              </a:ext>
            </a:extLst>
          </p:cNvPr>
          <p:cNvSpPr/>
          <p:nvPr/>
        </p:nvSpPr>
        <p:spPr>
          <a:xfrm>
            <a:off x="4023360" y="1691640"/>
            <a:ext cx="3429000" cy="2542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73C89-2F1C-D4D0-2413-2D2AA130E274}"/>
              </a:ext>
            </a:extLst>
          </p:cNvPr>
          <p:cNvSpPr txBox="1"/>
          <p:nvPr/>
        </p:nvSpPr>
        <p:spPr>
          <a:xfrm>
            <a:off x="4160520" y="180136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26522"/>
                </a:solidFill>
              </a:rPr>
              <a:t>6-Phase Agent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0993B-C730-97B8-006C-9840BBB878D1}"/>
              </a:ext>
            </a:extLst>
          </p:cNvPr>
          <p:cNvSpPr txBox="1"/>
          <p:nvPr/>
        </p:nvSpPr>
        <p:spPr>
          <a:xfrm>
            <a:off x="4160520" y="2148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0  </a:t>
            </a:r>
            <a:r>
              <a:rPr sz="900">
                <a:solidFill>
                  <a:srgbClr val="374151"/>
                </a:solidFill>
              </a:rPr>
              <a:t>Load all 5 context files (mandatory gate)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1  </a:t>
            </a:r>
            <a:r>
              <a:rPr sz="900">
                <a:solidFill>
                  <a:srgbClr val="374151"/>
                </a:solidFill>
              </a:rPr>
              <a:t>Intake &amp; Analysis — parse VBScript, list constructs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2  </a:t>
            </a:r>
            <a:r>
              <a:rPr sz="900">
                <a:solidFill>
                  <a:srgbClr val="374151"/>
                </a:solidFill>
              </a:rPr>
              <a:t>Construct Mapping — map each step to JS equivalent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3  </a:t>
            </a:r>
            <a:r>
              <a:rPr sz="900">
                <a:solidFill>
                  <a:srgbClr val="374151"/>
                </a:solidFill>
              </a:rPr>
              <a:t>Skeleton Generation — Jasmine spec structure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4  </a:t>
            </a:r>
            <a:r>
              <a:rPr sz="900">
                <a:solidFill>
                  <a:srgbClr val="374151"/>
                </a:solidFill>
              </a:rPr>
              <a:t>Keyword Translation — translate each test step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5  </a:t>
            </a:r>
            <a:r>
              <a:rPr sz="900">
                <a:solidFill>
                  <a:srgbClr val="374151"/>
                </a:solidFill>
              </a:rPr>
              <a:t>Guardrail Check — validate against all project rules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F26522"/>
                </a:solidFill>
              </a:rPr>
              <a:t>PHASE 6  </a:t>
            </a:r>
            <a:r>
              <a:rPr sz="900">
                <a:solidFill>
                  <a:srgbClr val="374151"/>
                </a:solidFill>
              </a:rPr>
              <a:t>Output + Migration Delta Report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9C735-3BEC-5BF3-703D-15471606B799}"/>
              </a:ext>
            </a:extLst>
          </p:cNvPr>
          <p:cNvSpPr/>
          <p:nvPr/>
        </p:nvSpPr>
        <p:spPr>
          <a:xfrm>
            <a:off x="7680960" y="1691640"/>
            <a:ext cx="3429000" cy="2542032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F05FE-9D0C-9D8B-022F-9BBBF48DBC87}"/>
              </a:ext>
            </a:extLst>
          </p:cNvPr>
          <p:cNvSpPr txBox="1"/>
          <p:nvPr/>
        </p:nvSpPr>
        <p:spPr>
          <a:xfrm>
            <a:off x="7818120" y="180136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26522"/>
                </a:solidFill>
              </a:rPr>
              <a:t>How to Use It (4 Scenarios)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FBDAD-2383-9DFF-6573-E190A37BB69F}"/>
              </a:ext>
            </a:extLst>
          </p:cNvPr>
          <p:cNvSpPr txBox="1"/>
          <p:nvPr/>
        </p:nvSpPr>
        <p:spPr>
          <a:xfrm>
            <a:off x="7818120" y="2148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374151"/>
                </a:solidFill>
              </a:rPr>
              <a:t>S1: Migrate a VBScript file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6B7280"/>
                </a:solidFill>
              </a:rPr>
              <a:t>Prompt: "Migrate this VBScript test file to </a:t>
            </a:r>
            <a:r>
              <a:rPr sz="850" err="1">
                <a:solidFill>
                  <a:srgbClr val="6B7280"/>
                </a:solidFill>
              </a:rPr>
              <a:t>LeanFT</a:t>
            </a:r>
            <a:r>
              <a:rPr sz="850">
                <a:solidFill>
                  <a:srgbClr val="6B7280"/>
                </a:solidFill>
              </a:rPr>
              <a:t> JavaScript: [paste file]"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374151"/>
                </a:solidFill>
              </a:rPr>
              <a:t>S2: Add a new screen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6B7280"/>
                </a:solidFill>
              </a:rPr>
              <a:t>Prompt: "Add a new screen called PAYMENT_HISTORY to screens.js with fields: ..."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374151"/>
                </a:solidFill>
              </a:rPr>
              <a:t>S3: Add a keyword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6B7280"/>
                </a:solidFill>
              </a:rPr>
              <a:t>Prompt: "Add a new keyword </a:t>
            </a:r>
            <a:r>
              <a:rPr sz="850" err="1">
                <a:solidFill>
                  <a:srgbClr val="6B7280"/>
                </a:solidFill>
              </a:rPr>
              <a:t>viewPaymentHistory</a:t>
            </a:r>
            <a:r>
              <a:rPr sz="850">
                <a:solidFill>
                  <a:srgbClr val="6B7280"/>
                </a:solidFill>
              </a:rPr>
              <a:t>(win, acct) to terminalHelper.js"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374151"/>
                </a:solidFill>
              </a:rPr>
              <a:t>S4: Add a test case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6B7280"/>
                </a:solidFill>
              </a:rPr>
              <a:t>Prompt: "Add a new test case 'should view payment history' to the spec file"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C86F1B-5CCD-FD3D-742C-B51C8B3600A5}"/>
              </a:ext>
            </a:extLst>
          </p:cNvPr>
          <p:cNvSpPr/>
          <p:nvPr/>
        </p:nvSpPr>
        <p:spPr>
          <a:xfrm>
            <a:off x="457200" y="4279392"/>
            <a:ext cx="11457432" cy="8229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D9005-A9E5-7120-BB7C-B774A2ACD422}"/>
              </a:ext>
            </a:extLst>
          </p:cNvPr>
          <p:cNvSpPr txBox="1"/>
          <p:nvPr/>
        </p:nvSpPr>
        <p:spPr>
          <a:xfrm>
            <a:off x="5001768" y="4764024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26522"/>
                </a:solidFill>
              </a:rPr>
              <a:t>Migration Flag Codes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9B8FB-4BDA-31CE-94CB-A1B4BA357F77}"/>
              </a:ext>
            </a:extLst>
          </p:cNvPr>
          <p:cNvSpPr txBox="1"/>
          <p:nvPr/>
        </p:nvSpPr>
        <p:spPr>
          <a:xfrm>
            <a:off x="502920" y="42428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4151"/>
                </a:solidFill>
              </a:rPr>
              <a:t>✅ AUTO</a:t>
            </a:r>
          </a:p>
          <a:p>
            <a:r>
              <a:rPr sz="850">
                <a:solidFill>
                  <a:srgbClr val="6B7280"/>
                </a:solidFill>
              </a:rPr>
              <a:t>Fully translated.
Review &amp; approve.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12D362-CED3-0EE5-18E6-166C6F53278B}"/>
              </a:ext>
            </a:extLst>
          </p:cNvPr>
          <p:cNvSpPr txBox="1"/>
          <p:nvPr/>
        </p:nvSpPr>
        <p:spPr>
          <a:xfrm>
            <a:off x="2807208" y="42428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4151"/>
                </a:solidFill>
              </a:rPr>
              <a:t>⚠️ PARTIAL</a:t>
            </a:r>
          </a:p>
          <a:p>
            <a:r>
              <a:rPr sz="850">
                <a:solidFill>
                  <a:srgbClr val="6B7280"/>
                </a:solidFill>
              </a:rPr>
              <a:t>Has TODO comments.
Complete manually.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79451D-BF94-A66E-0730-9DEAB693EBF7}"/>
              </a:ext>
            </a:extLst>
          </p:cNvPr>
          <p:cNvSpPr txBox="1"/>
          <p:nvPr/>
        </p:nvSpPr>
        <p:spPr>
          <a:xfrm>
            <a:off x="5111496" y="42428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4151"/>
                </a:solidFill>
              </a:rPr>
              <a:t>🔴 LOCATOR_MANUAL</a:t>
            </a:r>
          </a:p>
          <a:p>
            <a:r>
              <a:rPr sz="850">
                <a:solidFill>
                  <a:srgbClr val="6B7280"/>
                </a:solidFill>
              </a:rPr>
              <a:t>No locator found.
Capture with OIC.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ECFF8-076F-C2C4-FCFE-5C994006CC59}"/>
              </a:ext>
            </a:extLst>
          </p:cNvPr>
          <p:cNvSpPr txBox="1"/>
          <p:nvPr/>
        </p:nvSpPr>
        <p:spPr>
          <a:xfrm>
            <a:off x="7415784" y="42428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4151"/>
                </a:solidFill>
              </a:rPr>
              <a:t>🔴 TESTDATA_MANUAL</a:t>
            </a:r>
          </a:p>
          <a:p>
            <a:r>
              <a:rPr sz="850">
                <a:solidFill>
                  <a:srgbClr val="6B7280"/>
                </a:solidFill>
              </a:rPr>
              <a:t>Test data key missing.
Add to JSON file.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D5BCF-EE8D-1A2D-120B-C33A2DCEE46D}"/>
              </a:ext>
            </a:extLst>
          </p:cNvPr>
          <p:cNvSpPr txBox="1"/>
          <p:nvPr/>
        </p:nvSpPr>
        <p:spPr>
          <a:xfrm>
            <a:off x="9720072" y="42428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74151"/>
                </a:solidFill>
              </a:rPr>
              <a:t>⛔ NOT_APPLICABLE</a:t>
            </a:r>
          </a:p>
          <a:p>
            <a:r>
              <a:rPr sz="850">
                <a:solidFill>
                  <a:srgbClr val="6B7280"/>
                </a:solidFill>
              </a:rPr>
              <a:t>No 3270 equivalent.
Remove from scope.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8C336-5EAE-3356-2A1E-9716EC3B6239}"/>
              </a:ext>
            </a:extLst>
          </p:cNvPr>
          <p:cNvSpPr/>
          <p:nvPr/>
        </p:nvSpPr>
        <p:spPr>
          <a:xfrm>
            <a:off x="0" y="6510528"/>
            <a:ext cx="12192000" cy="54864"/>
          </a:xfrm>
          <a:prstGeom prst="rect">
            <a:avLst/>
          </a:prstGeom>
          <a:solidFill>
            <a:srgbClr val="F265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58BBB0-68C0-1E5D-B931-D354AAF5C499}"/>
              </a:ext>
            </a:extLst>
          </p:cNvPr>
          <p:cNvSpPr txBox="1"/>
          <p:nvPr/>
        </p:nvSpPr>
        <p:spPr>
          <a:xfrm>
            <a:off x="411480" y="656539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Ascendion | BOA Jarvis to LeanFT JavaScript POC | Migration Agent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5A43D-0F49-9A39-0E6D-72CCB020B0A6}"/>
              </a:ext>
            </a:extLst>
          </p:cNvPr>
          <p:cNvSpPr txBox="1"/>
          <p:nvPr/>
        </p:nvSpPr>
        <p:spPr>
          <a:xfrm>
            <a:off x="1143000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0477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74E7CB-6861-101B-B7F8-5FBA9BE19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02535"/>
              </p:ext>
            </p:extLst>
          </p:nvPr>
        </p:nvGraphicFramePr>
        <p:xfrm>
          <a:off x="347472" y="1171125"/>
          <a:ext cx="11521443" cy="5398392"/>
        </p:xfrm>
        <a:graphic>
          <a:graphicData uri="http://schemas.openxmlformats.org/drawingml/2006/table">
            <a:tbl>
              <a:tblPr/>
              <a:tblGrid>
                <a:gridCol w="1849973">
                  <a:extLst>
                    <a:ext uri="{9D8B030D-6E8A-4147-A177-3AD203B41FA5}">
                      <a16:colId xmlns:a16="http://schemas.microsoft.com/office/drawing/2014/main" val="4106126039"/>
                    </a:ext>
                  </a:extLst>
                </a:gridCol>
                <a:gridCol w="1402086">
                  <a:extLst>
                    <a:ext uri="{9D8B030D-6E8A-4147-A177-3AD203B41FA5}">
                      <a16:colId xmlns:a16="http://schemas.microsoft.com/office/drawing/2014/main" val="3831451178"/>
                    </a:ext>
                  </a:extLst>
                </a:gridCol>
                <a:gridCol w="1187878">
                  <a:extLst>
                    <a:ext uri="{9D8B030D-6E8A-4147-A177-3AD203B41FA5}">
                      <a16:colId xmlns:a16="http://schemas.microsoft.com/office/drawing/2014/main" val="2519051836"/>
                    </a:ext>
                  </a:extLst>
                </a:gridCol>
                <a:gridCol w="1596820">
                  <a:extLst>
                    <a:ext uri="{9D8B030D-6E8A-4147-A177-3AD203B41FA5}">
                      <a16:colId xmlns:a16="http://schemas.microsoft.com/office/drawing/2014/main" val="1033810530"/>
                    </a:ext>
                  </a:extLst>
                </a:gridCol>
                <a:gridCol w="1998946">
                  <a:extLst>
                    <a:ext uri="{9D8B030D-6E8A-4147-A177-3AD203B41FA5}">
                      <a16:colId xmlns:a16="http://schemas.microsoft.com/office/drawing/2014/main" val="1370176693"/>
                    </a:ext>
                  </a:extLst>
                </a:gridCol>
                <a:gridCol w="1324192">
                  <a:extLst>
                    <a:ext uri="{9D8B030D-6E8A-4147-A177-3AD203B41FA5}">
                      <a16:colId xmlns:a16="http://schemas.microsoft.com/office/drawing/2014/main" val="1605714540"/>
                    </a:ext>
                  </a:extLst>
                </a:gridCol>
                <a:gridCol w="2161548">
                  <a:extLst>
                    <a:ext uri="{9D8B030D-6E8A-4147-A177-3AD203B41FA5}">
                      <a16:colId xmlns:a16="http://schemas.microsoft.com/office/drawing/2014/main" val="1057032004"/>
                    </a:ext>
                  </a:extLst>
                </a:gridCol>
              </a:tblGrid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Tool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Mainframe Support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Approach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Difficulty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Reality in 2026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877158"/>
                  </a:ext>
                </a:extLst>
              </a:tr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UFT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Terminal emulator add-in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Legacy but still used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057159"/>
                  </a:ext>
                </a:extLst>
              </a:tr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LeanFT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(UFT Developer)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Code-based (Java/JS)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Legacy but still used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152863"/>
                  </a:ext>
                </a:extLst>
              </a:tr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UiPath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+ Free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+ 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 + text scraping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Modern standard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320850"/>
                  </a:ext>
                </a:extLst>
              </a:tr>
              <a:tr h="365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 Prism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Expensive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Surface automation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Banking-heavy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154324"/>
                  </a:ext>
                </a:extLst>
              </a:tr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Automation Anywhere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 + screen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Cloud-first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132343"/>
                  </a:ext>
                </a:extLst>
              </a:tr>
              <a:tr h="6561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IBM Personal Communications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Native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HLLAPI/EHLLAPI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reliable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360086"/>
                  </a:ext>
                </a:extLst>
              </a:tr>
              <a:tr h="365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Rocket BlueZone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Native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API-based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alternative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274303"/>
                  </a:ext>
                </a:extLst>
              </a:tr>
              <a:tr h="365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py3270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Open-source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 terminal API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OSS option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154980"/>
                  </a:ext>
                </a:extLst>
              </a:tr>
              <a:tr h="365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s3270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Open-source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Strong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Scriptable terminal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Hard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Low-level control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6" marR="9216" marT="92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025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1B2792-E248-FF4C-ED53-AEC5FF476127}"/>
              </a:ext>
            </a:extLst>
          </p:cNvPr>
          <p:cNvSpPr txBox="1"/>
          <p:nvPr/>
        </p:nvSpPr>
        <p:spPr>
          <a:xfrm>
            <a:off x="757980" y="371086"/>
            <a:ext cx="876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7030A0"/>
                </a:solidFill>
              </a:rPr>
              <a:t>Comparison Table (Focused only on mainframe capability)</a:t>
            </a:r>
          </a:p>
        </p:txBody>
      </p:sp>
    </p:spTree>
    <p:extLst>
      <p:ext uri="{BB962C8B-B14F-4D97-AF65-F5344CB8AC3E}">
        <p14:creationId xmlns:p14="http://schemas.microsoft.com/office/powerpoint/2010/main" val="341649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00" y="150000"/>
            <a:ext cx="10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TypeScript vs JavaScript for LeanFT Mainframe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700000"/>
            <a:ext cx="11200000" cy="340000"/>
          </a:xfrm>
          <a:prstGeom prst="rect">
            <a:avLst/>
          </a:prstGeom>
          <a:solidFill>
            <a:srgbClr val="00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0000" y="720000"/>
            <a:ext cx="110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VERDICT:  LeanFT officially supports Java, C# and JavaScript only.  TypeScript is NOT an official SDK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1100000"/>
            <a:ext cx="5300000" cy="3000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000" y="1110000"/>
            <a:ext cx="5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What TypeScript Would Require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1460000"/>
            <a:ext cx="5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tsconfig.json with "allowJs": true + "module": "commonjs"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1730000"/>
            <a:ext cx="5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/>
              <a:t>  •  Hand-written .</a:t>
            </a:r>
            <a:r>
              <a:rPr sz="1400" b="0" i="0" dirty="0" err="1"/>
              <a:t>d.ts</a:t>
            </a:r>
            <a:r>
              <a:rPr sz="1400" b="0" i="0" dirty="0"/>
              <a:t> type definitions for all ~18 </a:t>
            </a:r>
            <a:r>
              <a:rPr sz="1400" b="0" i="0" dirty="0" err="1"/>
              <a:t>LeanFT</a:t>
            </a:r>
            <a:r>
              <a:rPr sz="1400" b="0" i="0" dirty="0"/>
              <a:t>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2000000"/>
            <a:ext cx="5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ts-node or tsc compile step added to the CI/CD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2270000"/>
            <a:ext cx="5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Convert every .js file (specs, helpers, screens, runner) to 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2540000"/>
            <a:ext cx="52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No OpenText vendor support if anything breaks in TypeScript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0000" y="1100000"/>
            <a:ext cx="5600000" cy="300000"/>
          </a:xfrm>
          <a:prstGeom prst="rect">
            <a:avLst/>
          </a:prstGeom>
          <a:solidFill>
            <a:srgbClr val="167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10000" y="111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Recommendation: Stay with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0000" y="146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Add // @ts-check at top of key files for type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0000" y="173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Use JSDoc annotations (@param, @returns) for IntelliSense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0000" y="200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Enable "checkJs": true in jsconfig.json for workspace-wide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0000" y="227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Achieves ~80% of TypeScript safety with zero migration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0000" y="2540000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/>
              <a:t>  •  No build step needed — Jasmine runs .js files directly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2960000"/>
            <a:ext cx="11200000" cy="3000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0000" y="2970000"/>
            <a:ext cx="111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Side-by-Side: TypeScript vs JavaScript for This Project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0000" y="3310000"/>
          <a:ext cx="112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55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Concern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JavaScript (Current)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TypeScript (Hypothetical)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LeanFT SDK support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Official — ships JS packages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None — no .d.ts files in SDK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Type definitions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Not needed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Must hand-write for ~18 packages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Build step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None — jasmine runs .js directly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Requires ts-node or tsc compile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CI pipeline impact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Zero changes needed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Extra compile stage in Jenkinsfile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OpenText vendor support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Full support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Unsupported configuration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Team ramp-up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JS is the migration target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Additional TypeScript learning needed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55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Migration agent output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Directly runnable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8F4F8"/>
                          </a:solidFill>
                        </a:rPr>
                        <a:t>Needs post-processing transpile step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5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Risk level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67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FFFF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0000" y="6580000"/>
            <a:ext cx="10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/>
              <a:t>Ascendion  |  BOA Jarvis to LeanFT JavaScript POC  |  TypeScript Feasibility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00000" y="6580000"/>
            <a:ext cx="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/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00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500000" y="160000"/>
            <a:ext cx="110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Proposed Conversion Approach: VBScript Key Components to Each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680000"/>
            <a:ext cx="11200000" cy="320000"/>
          </a:xfrm>
          <a:prstGeom prst="rect">
            <a:avLst/>
          </a:prstGeom>
          <a:solidFill>
            <a:srgbClr val="00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600000" y="700000"/>
            <a:ext cx="110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All four options follow the same proven 6-step factory model: Assess → Map → Baseline → Pilot → Industrialize →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000" y="1080000"/>
            <a:ext cx="2700000" cy="320000"/>
          </a:xfrm>
          <a:prstGeom prst="rect">
            <a:avLst/>
          </a:prstGeom>
          <a:solidFill>
            <a:srgbClr val="167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510000" y="1092000"/>
            <a:ext cx="25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JavaScript  (LeanFT)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000" y="1390640"/>
            <a:ext cx="2700000" cy="490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530000" y="1440000"/>
            <a:ext cx="2540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8F4F8"/>
                </a:solidFill>
              </a:rPr>
              <a:t>•  VBScript .</a:t>
            </a:r>
            <a:r>
              <a:rPr sz="1400" dirty="0" err="1">
                <a:solidFill>
                  <a:srgbClr val="E8F4F8"/>
                </a:solidFill>
              </a:rPr>
              <a:t>qfl</a:t>
            </a:r>
            <a:r>
              <a:rPr sz="1400" dirty="0">
                <a:solidFill>
                  <a:srgbClr val="E8F4F8"/>
                </a:solidFill>
              </a:rPr>
              <a:t> → JS keyword functions</a:t>
            </a:r>
          </a:p>
          <a:p>
            <a:pPr algn="l"/>
            <a:r>
              <a:rPr sz="1400" dirty="0">
                <a:solidFill>
                  <a:srgbClr val="E8F4F8"/>
                </a:solidFill>
              </a:rPr>
              <a:t>•  UFT XML flows → Jasmine describe/it</a:t>
            </a:r>
          </a:p>
          <a:p>
            <a:pPr algn="l"/>
            <a:r>
              <a:rPr sz="1400" dirty="0">
                <a:solidFill>
                  <a:srgbClr val="E8F4F8"/>
                </a:solidFill>
              </a:rPr>
              <a:t>•  UFT .</a:t>
            </a:r>
            <a:r>
              <a:rPr sz="1400" dirty="0" err="1">
                <a:solidFill>
                  <a:srgbClr val="E8F4F8"/>
                </a:solidFill>
              </a:rPr>
              <a:t>tsr</a:t>
            </a:r>
            <a:r>
              <a:rPr sz="1400" dirty="0">
                <a:solidFill>
                  <a:srgbClr val="E8F4F8"/>
                </a:solidFill>
              </a:rPr>
              <a:t>/.</a:t>
            </a:r>
            <a:r>
              <a:rPr sz="1400" dirty="0" err="1">
                <a:solidFill>
                  <a:srgbClr val="E8F4F8"/>
                </a:solidFill>
              </a:rPr>
              <a:t>mtr</a:t>
            </a:r>
            <a:r>
              <a:rPr sz="1400" dirty="0">
                <a:solidFill>
                  <a:srgbClr val="E8F4F8"/>
                </a:solidFill>
              </a:rPr>
              <a:t> → plain JS objects</a:t>
            </a:r>
          </a:p>
          <a:p>
            <a:pPr algn="l"/>
            <a:r>
              <a:rPr sz="1400" dirty="0">
                <a:solidFill>
                  <a:srgbClr val="E8F4F8"/>
                </a:solidFill>
              </a:rPr>
              <a:t>•  Excel data → JSON + xlsx </a:t>
            </a:r>
            <a:r>
              <a:rPr sz="1400" dirty="0" err="1">
                <a:solidFill>
                  <a:srgbClr val="E8F4F8"/>
                </a:solidFill>
              </a:rPr>
              <a:t>npm</a:t>
            </a:r>
            <a:endParaRPr sz="1400" dirty="0">
              <a:solidFill>
                <a:srgbClr val="E8F4F8"/>
              </a:solidFill>
            </a:endParaRPr>
          </a:p>
          <a:p>
            <a:pPr algn="l"/>
            <a:r>
              <a:rPr sz="1400" dirty="0">
                <a:solidFill>
                  <a:srgbClr val="E8F4F8"/>
                </a:solidFill>
              </a:rPr>
              <a:t>•  Config templates → Node.js modules</a:t>
            </a:r>
          </a:p>
          <a:p>
            <a:pPr algn="l"/>
            <a:r>
              <a:rPr sz="1400" dirty="0">
                <a:solidFill>
                  <a:srgbClr val="E8F4F8"/>
                </a:solidFill>
              </a:rPr>
              <a:t>•  Migration agent auto-converts ~70%</a:t>
            </a:r>
          </a:p>
          <a:p>
            <a:pPr algn="l"/>
            <a:r>
              <a:rPr sz="1400" dirty="0">
                <a:solidFill>
                  <a:srgbClr val="E8F4F8"/>
                </a:solidFill>
              </a:rPr>
              <a:t>•  Remaining 30%: manual + Copilot assist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0000" y="1080000"/>
            <a:ext cx="2700000" cy="3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3310000" y="1092000"/>
            <a:ext cx="25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Python  (py3270)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0000" y="1400000"/>
            <a:ext cx="2700000" cy="490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3330000" y="1440000"/>
            <a:ext cx="2540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8F4F8"/>
                </a:solidFill>
              </a:rPr>
              <a:t>•  VBScript .qfl → Python helper functions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UFT flows → pytest test functions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Object repo → Python dict / dataclass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Excel data → JSON / pandas / openpyxl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Config → YAML / .env + python-dotenv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Manual rewrite required (no auto agent)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py3270 wraps s3270 for direct TN3270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0000" y="1080000"/>
            <a:ext cx="2700000" cy="32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6110000" y="1092000"/>
            <a:ext cx="25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Java  (LeanFT)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0000" y="1355295"/>
            <a:ext cx="2700000" cy="490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6130000" y="1440000"/>
            <a:ext cx="2540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8F4F8"/>
                </a:solidFill>
              </a:rPr>
              <a:t>•  VBScript .qfl → Java helper classes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UFT flows → TestNG @Test methods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Object repo → Java POJOs / enums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Excel data → TestNG DataProvider + poi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Config → Maven profiles / properties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Manual rewrite required (no auto agent)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LeanFT TE SDK for emulator interaction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0000" y="1080000"/>
            <a:ext cx="2700000" cy="320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8910000" y="1092000"/>
            <a:ext cx="25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TypeScript  (LeanFT¹)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0000" y="1400000"/>
            <a:ext cx="2700000" cy="490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8930000" y="1440000"/>
            <a:ext cx="2540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8F4F8"/>
                </a:solidFill>
              </a:rPr>
              <a:t>•  Same as JS + add tsconfig.json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Write .d.ts for all ~18 LeanFT pkgs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Rename .js → .ts, add type annotations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Needs ts-node or tsc compile step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No official SDK types from OpenText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No migration agent support today</a:t>
            </a:r>
          </a:p>
          <a:p>
            <a:pPr algn="l"/>
            <a:r>
              <a:rPr sz="1400">
                <a:solidFill>
                  <a:srgbClr val="E8F4F8"/>
                </a:solidFill>
              </a:rPr>
              <a:t>•  ¹ Not an official LeanFT target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350000"/>
            <a:ext cx="11200000" cy="2000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680856" y="6300000"/>
            <a:ext cx="111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F5A623"/>
                </a:solidFill>
              </a:rPr>
              <a:t>Key point:  All options share the same layered architecture — only the language, runner and SDK bindings differ.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6580000"/>
            <a:ext cx="10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AACC"/>
                </a:solidFill>
              </a:rPr>
              <a:t>Ascendion  |  BOA Jarvis to LeanFT JavaScript Migration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00000" y="6580000"/>
            <a:ext cx="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AACC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00000" y="160000"/>
            <a:ext cx="11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Quickest Win Analysis: Risk, Effort, Cost &amp; Time to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680000"/>
            <a:ext cx="11200000" cy="320000"/>
          </a:xfrm>
          <a:prstGeom prst="rect">
            <a:avLst/>
          </a:prstGeom>
          <a:solidFill>
            <a:srgbClr val="00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600000" y="700000"/>
            <a:ext cx="1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Which option gets to production fastest with the lowest combined risk?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346863"/>
              </p:ext>
            </p:extLst>
          </p:nvPr>
        </p:nvGraphicFramePr>
        <p:xfrm>
          <a:off x="300000" y="1115640"/>
          <a:ext cx="118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JavaScript (LeanFT)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Python (py3270)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Java (LeanFT)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TypeScript (LeanFT)</a:t>
                      </a:r>
                    </a:p>
                  </a:txBody>
                  <a:tcPr>
                    <a:solidFill>
                      <a:srgbClr val="007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Migration effort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LOW – closest syntax to VBScript; agent auto-converts ~70%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 – full rewrite; different paradigm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MEDIUM-HIGH – full rewrite; verbose boilerplate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 – same as JS + write .d.ts for 18 packages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Time to first test running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1–2 weeks (POC already running)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3–4 weeks (needs s3270 infra setup)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3–4 weeks (Maven + LeanFT config)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2–3 weeks (JS POC + TS conversion)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Licensing cost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LeanFT license (already available)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FREE – fully open-source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LeanFT license (already available)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LeanFT license (already available)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Mainframe connectivity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HLLAPI via LeanFT TE SDK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Direct TN3270 socket (no emulator)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HLLAPI via LeanFT TE SDK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HLLAPI via LeanFT TE SDK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5A623"/>
                          </a:solidFill>
                        </a:rPr>
                        <a:t>Vendor support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Full OpenText support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Community only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Full OpenText support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NONE – unsupported config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AI acceleration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Migration agent + Copilot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Copilot only (</a:t>
                      </a:r>
                      <a:r>
                        <a:rPr lang="en-US" sz="1400" b="0" dirty="0">
                          <a:solidFill>
                            <a:srgbClr val="E8F4F8"/>
                          </a:solidFill>
                        </a:rPr>
                        <a:t>can create new agent to generate scripts</a:t>
                      </a:r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Copilot only (</a:t>
                      </a:r>
                      <a:r>
                        <a:rPr lang="en-US" sz="1400" b="0" dirty="0">
                          <a:solidFill>
                            <a:srgbClr val="E8F4F8"/>
                          </a:solidFill>
                        </a:rPr>
                        <a:t>can create new agent to generate scripts</a:t>
                      </a:r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E8F4F8"/>
                          </a:solidFill>
                        </a:rPr>
                        <a:t>Migration agent + Copilot 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Team ramp-up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LOW – JS closest to VBScript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 – new language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 – Java + Maven learning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MEDIUM – JS + TS type system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Risk level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LOW</a:t>
                      </a:r>
                    </a:p>
                  </a:txBody>
                  <a:tcPr>
                    <a:solidFill>
                      <a:srgbClr val="167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E8F4F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A623"/>
                          </a:solidFill>
                        </a:rPr>
                        <a:t>Overall: Time to Value</a:t>
                      </a:r>
                    </a:p>
                  </a:txBody>
                  <a:tcPr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FASTEST</a:t>
                      </a:r>
                    </a:p>
                  </a:txBody>
                  <a:tcPr>
                    <a:solidFill>
                      <a:srgbClr val="167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F4F8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Fast BUT Risky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0000" y="6350000"/>
            <a:ext cx="11600000" cy="200000"/>
          </a:xfrm>
          <a:prstGeom prst="rect">
            <a:avLst/>
          </a:prstGeom>
          <a:solidFill>
            <a:srgbClr val="167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/>
          <p:cNvSpPr txBox="1"/>
          <p:nvPr/>
        </p:nvSpPr>
        <p:spPr>
          <a:xfrm>
            <a:off x="400000" y="6302000"/>
            <a:ext cx="114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⭐  Recommendation:  JavaScript / </a:t>
            </a:r>
            <a:r>
              <a:rPr sz="1200" b="1" i="0" dirty="0" err="1">
                <a:solidFill>
                  <a:srgbClr val="FFFFFF"/>
                </a:solidFill>
              </a:rPr>
              <a:t>LeanFT</a:t>
            </a:r>
            <a:r>
              <a:rPr sz="1200" b="1" i="0" dirty="0">
                <a:solidFill>
                  <a:srgbClr val="FFFFFF"/>
                </a:solidFill>
              </a:rPr>
              <a:t> is the clear quickest win — lowest risk, fastest delivery, with AI-assisted migration.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6580000"/>
            <a:ext cx="10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ACC"/>
                </a:solidFill>
              </a:rPr>
              <a:t>Ascendion  |  BOA Jarvis to LeanFT JavaScript Migration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0" y="6580000"/>
            <a:ext cx="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AACC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00000" y="160000"/>
            <a:ext cx="11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Detailed Pros &amp; Cons of Each Conversion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00000"/>
            <a:ext cx="5550000" cy="260000"/>
          </a:xfrm>
          <a:prstGeom prst="rect">
            <a:avLst/>
          </a:prstGeom>
          <a:solidFill>
            <a:srgbClr val="167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410000" y="710000"/>
            <a:ext cx="5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1: JavaScript / LeanFT  (Recommended)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60000"/>
            <a:ext cx="5550000" cy="234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410000" y="980000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C3A"/>
                </a:solidFill>
              </a:rP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000" y="1140000"/>
            <a:ext cx="543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8F4F8"/>
                </a:solidFill>
              </a:rPr>
              <a:t>•  Closest syntax to VBScript → easiest migration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Migration agent automates ~70% of conversion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POC already running end-to-end (proven)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Full OpenText vendor support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GitHub Copilot + migration agent ready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Simple npm/Jasmine CI — no build step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Existing LeanFT license covers this 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000" y="2486495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F5350"/>
                </a:solidFill>
              </a:rPr>
              <a:t>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000" y="2656999"/>
            <a:ext cx="5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FFCCBC"/>
                </a:solidFill>
              </a:rPr>
              <a:t>•  Requires </a:t>
            </a:r>
            <a:r>
              <a:rPr sz="1200" dirty="0" err="1">
                <a:solidFill>
                  <a:srgbClr val="FFCCBC"/>
                </a:solidFill>
              </a:rPr>
              <a:t>LeanFT</a:t>
            </a:r>
            <a:r>
              <a:rPr sz="1200" dirty="0">
                <a:solidFill>
                  <a:srgbClr val="FFCCBC"/>
                </a:solidFill>
              </a:rPr>
              <a:t> license (already in place)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Dynamic typing (mitigated with </a:t>
            </a:r>
            <a:r>
              <a:rPr sz="1200" dirty="0" err="1">
                <a:solidFill>
                  <a:srgbClr val="FFCCBC"/>
                </a:solidFill>
              </a:rPr>
              <a:t>JSDoc</a:t>
            </a:r>
            <a:r>
              <a:rPr sz="1200" dirty="0">
                <a:solidFill>
                  <a:srgbClr val="FFCCBC"/>
                </a:solidFill>
              </a:rPr>
              <a:t>/@ts-check)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Needs terminal emulator running for HLLAPI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0" y="700000"/>
            <a:ext cx="5550000" cy="2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6060000" y="710000"/>
            <a:ext cx="5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2: Python / py3270  (Open-Source)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960000"/>
            <a:ext cx="5550000" cy="234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6060000" y="980000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C3A"/>
                </a:solidFill>
              </a:rPr>
              <a:t>PROS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0000" y="1140000"/>
            <a:ext cx="5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8F4F8"/>
                </a:solidFill>
              </a:rPr>
              <a:t>•  Zero licensing cost — fully open-source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Direct TN3270 — no emulator dependency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Rich ecosystem (pandas, requests, etc.)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Headless execution ideal for 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1974502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5350"/>
                </a:solidFill>
              </a:rPr>
              <a:t>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2000" y="2280430"/>
            <a:ext cx="543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FFCCBC"/>
                </a:solidFill>
              </a:rPr>
              <a:t>•  Full manual rewrite (no migration agent)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py3270/s3270 is community-supported only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Different paradigm from VBScript (steeper curve)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No </a:t>
            </a:r>
            <a:r>
              <a:rPr sz="1200" dirty="0" err="1">
                <a:solidFill>
                  <a:srgbClr val="FFCCBC"/>
                </a:solidFill>
              </a:rPr>
              <a:t>LeanFT</a:t>
            </a:r>
            <a:r>
              <a:rPr sz="1200" dirty="0">
                <a:solidFill>
                  <a:srgbClr val="FFCCBC"/>
                </a:solidFill>
              </a:rPr>
              <a:t> reporting integration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s3270 infrastructure setup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3400000"/>
            <a:ext cx="5550000" cy="26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410000" y="3410000"/>
            <a:ext cx="5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3: Java / LeanFT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3660000"/>
            <a:ext cx="5550000" cy="234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410000" y="3680000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C3A"/>
                </a:solidFill>
              </a:rPr>
              <a:t>PROS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000" y="3840000"/>
            <a:ext cx="5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8F4F8"/>
                </a:solidFill>
              </a:rPr>
              <a:t>•  Strong typing — catches errors at compile time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Enterprise Maven/TestNG pattern familiar to Java shops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Full OpenText vendor support</a:t>
            </a:r>
          </a:p>
          <a:p>
            <a:pPr algn="l"/>
            <a:r>
              <a:rPr sz="1200">
                <a:solidFill>
                  <a:srgbClr val="E8F4F8"/>
                </a:solidFill>
              </a:rPr>
              <a:t>•  Good fit if BOA has strong Java engineering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000" y="4625499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5350"/>
                </a:solidFill>
              </a:rPr>
              <a:t>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000" y="4837188"/>
            <a:ext cx="543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FFCCBC"/>
                </a:solidFill>
              </a:rPr>
              <a:t>•  Full manual rewrite — no migration agent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Verbose boilerplate vs. JavaScript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Maven + JDK setup adds CI complexity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Farthest syntax from VBScript → hardest migration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Requires </a:t>
            </a:r>
            <a:r>
              <a:rPr sz="1200" dirty="0" err="1">
                <a:solidFill>
                  <a:srgbClr val="FFCCBC"/>
                </a:solidFill>
              </a:rPr>
              <a:t>LeanFT</a:t>
            </a:r>
            <a:r>
              <a:rPr sz="1200" dirty="0">
                <a:solidFill>
                  <a:srgbClr val="FFCCBC"/>
                </a:solidFill>
              </a:rPr>
              <a:t> license + terminal emulator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0000" y="3400000"/>
            <a:ext cx="5550000" cy="260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6060000" y="3410000"/>
            <a:ext cx="5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4: TypeScript / LeanFT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0000" y="3650000"/>
            <a:ext cx="5550000" cy="2340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6060000" y="3680000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67C3A"/>
                </a:solidFill>
              </a:rPr>
              <a:t>PROS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0000" y="3950214"/>
            <a:ext cx="5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8F4F8"/>
                </a:solidFill>
              </a:rPr>
              <a:t>•  Static typing on top of JavaScript</a:t>
            </a:r>
          </a:p>
          <a:p>
            <a:pPr algn="l"/>
            <a:r>
              <a:rPr sz="1200" dirty="0">
                <a:solidFill>
                  <a:srgbClr val="E8F4F8"/>
                </a:solidFill>
              </a:rPr>
              <a:t>•  Better IDE auto-complete and refactoring</a:t>
            </a:r>
          </a:p>
          <a:p>
            <a:pPr algn="l"/>
            <a:r>
              <a:rPr sz="1200" dirty="0">
                <a:solidFill>
                  <a:srgbClr val="E8F4F8"/>
                </a:solidFill>
              </a:rPr>
              <a:t>•  Compiles down to JS — same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0000" y="4592238"/>
            <a:ext cx="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F5350"/>
                </a:solidFill>
              </a:rPr>
              <a:t>CONS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0000" y="4807255"/>
            <a:ext cx="5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FFCCBC"/>
                </a:solidFill>
              </a:rPr>
              <a:t>•  NOT an official </a:t>
            </a:r>
            <a:r>
              <a:rPr sz="1200" dirty="0" err="1">
                <a:solidFill>
                  <a:srgbClr val="FFCCBC"/>
                </a:solidFill>
              </a:rPr>
              <a:t>LeanFT</a:t>
            </a:r>
            <a:r>
              <a:rPr sz="1200" dirty="0">
                <a:solidFill>
                  <a:srgbClr val="FFCCBC"/>
                </a:solidFill>
              </a:rPr>
              <a:t> SDK language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Must hand-write .</a:t>
            </a:r>
            <a:r>
              <a:rPr sz="1200" dirty="0" err="1">
                <a:solidFill>
                  <a:srgbClr val="FFCCBC"/>
                </a:solidFill>
              </a:rPr>
              <a:t>d.ts</a:t>
            </a:r>
            <a:r>
              <a:rPr sz="1200" dirty="0">
                <a:solidFill>
                  <a:srgbClr val="FFCCBC"/>
                </a:solidFill>
              </a:rPr>
              <a:t> for ~18 </a:t>
            </a:r>
            <a:r>
              <a:rPr sz="1200" dirty="0" err="1">
                <a:solidFill>
                  <a:srgbClr val="FFCCBC"/>
                </a:solidFill>
              </a:rPr>
              <a:t>LeanFT</a:t>
            </a:r>
            <a:r>
              <a:rPr sz="1200" dirty="0">
                <a:solidFill>
                  <a:srgbClr val="FFCCBC"/>
                </a:solidFill>
              </a:rPr>
              <a:t> packages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No OpenText support for TS configuration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Extra </a:t>
            </a:r>
            <a:r>
              <a:rPr sz="1200" dirty="0" err="1">
                <a:solidFill>
                  <a:srgbClr val="FFCCBC"/>
                </a:solidFill>
              </a:rPr>
              <a:t>tsc</a:t>
            </a:r>
            <a:r>
              <a:rPr sz="1200" dirty="0">
                <a:solidFill>
                  <a:srgbClr val="FFCCBC"/>
                </a:solidFill>
              </a:rPr>
              <a:t> / </a:t>
            </a:r>
            <a:r>
              <a:rPr sz="1200" dirty="0" err="1">
                <a:solidFill>
                  <a:srgbClr val="FFCCBC"/>
                </a:solidFill>
              </a:rPr>
              <a:t>ts</a:t>
            </a:r>
            <a:r>
              <a:rPr sz="1200" dirty="0">
                <a:solidFill>
                  <a:srgbClr val="FFCCBC"/>
                </a:solidFill>
              </a:rPr>
              <a:t>-node build step in CI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Migration agent does not emit TypeScript</a:t>
            </a:r>
          </a:p>
          <a:p>
            <a:pPr algn="l"/>
            <a:r>
              <a:rPr sz="1200" dirty="0">
                <a:solidFill>
                  <a:srgbClr val="FFCCBC"/>
                </a:solidFill>
              </a:rPr>
              <a:t>•  Fragile on SDK version upgrades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6350000"/>
            <a:ext cx="11500000" cy="2000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442000" y="6311500"/>
            <a:ext cx="114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F5A623"/>
                </a:solidFill>
              </a:rPr>
              <a:t>JavaScript / </a:t>
            </a:r>
            <a:r>
              <a:rPr sz="1200" b="0" i="1" dirty="0" err="1">
                <a:solidFill>
                  <a:srgbClr val="F5A623"/>
                </a:solidFill>
              </a:rPr>
              <a:t>LeanFT</a:t>
            </a:r>
            <a:r>
              <a:rPr sz="1200" b="0" i="1" dirty="0">
                <a:solidFill>
                  <a:srgbClr val="F5A623"/>
                </a:solidFill>
              </a:rPr>
              <a:t> offers the best balance of risk, effort, cost and time-to-value for mainframe automation at BOA.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000" y="6580000"/>
            <a:ext cx="10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ACC"/>
                </a:solidFill>
              </a:rPr>
              <a:t>Ascendion  |  BOA Jarvis to LeanFT JavaScript Migration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00000" y="6580000"/>
            <a:ext cx="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AACC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[🎨 Design Note: Thank You Slide]&#10;Background: Clean White (#FFFFFF).&#10;Main Text: Deep Corporate Blue.&#10;Layout: Minimalist, centered.&#10;&#10;[Header - Deep Corporate Blue, Bold, Size 54, Centered]&#10;Thank You&#10;&#10;&#10;&#10;[Footer - Bottom Left, Small Font, Light Gray]&#10;Ascendion | BOA Jarvis to LeanFT Migration Plan">
            <a:extLst>
              <a:ext uri="{FF2B5EF4-FFF2-40B4-BE49-F238E27FC236}">
                <a16:creationId xmlns:a16="http://schemas.microsoft.com/office/drawing/2014/main" id="{556335C2-A4CB-3892-F041-838A321A0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0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3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3866</Words>
  <Application>Microsoft Office PowerPoint</Application>
  <PresentationFormat>Widescreen</PresentationFormat>
  <Paragraphs>599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Viplove Bisen</cp:lastModifiedBy>
  <cp:revision>1</cp:revision>
  <dcterms:created xsi:type="dcterms:W3CDTF">2013-01-27T09:14:16Z</dcterms:created>
  <dcterms:modified xsi:type="dcterms:W3CDTF">2026-04-24T11:02:05Z</dcterms:modified>
  <cp:category/>
</cp:coreProperties>
</file>