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6" r:id="rId3"/>
    <p:sldId id="257" r:id="rId4"/>
    <p:sldId id="258" r:id="rId5"/>
    <p:sldId id="259" r:id="rId6"/>
    <p:sldId id="260" r:id="rId7"/>
    <p:sldId id="267" r:id="rId8"/>
    <p:sldId id="261" r:id="rId9"/>
    <p:sldId id="262" r:id="rId10"/>
    <p:sldId id="263" r:id="rId11"/>
    <p:sldId id="264" r:id="rId12"/>
    <p:sldId id="268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AC2D0-E78E-4476-8B5D-3FAD2AB3BF95}" v="105" dt="2026-04-22T07:02:08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plove Bisen" userId="46f1591d-eef5-4397-b72d-ff9377ac01bf" providerId="ADAL" clId="{133C2016-0089-4AFF-B7EF-FB7D92197C6A}"/>
    <pc:docChg chg="undo custSel addSld modSld sldOrd">
      <pc:chgData name="Viplove Bisen" userId="46f1591d-eef5-4397-b72d-ff9377ac01bf" providerId="ADAL" clId="{133C2016-0089-4AFF-B7EF-FB7D92197C6A}" dt="2026-04-22T07:02:08.665" v="107" actId="12"/>
      <pc:docMkLst>
        <pc:docMk/>
      </pc:docMkLst>
      <pc:sldChg chg="addSp delSp modSp mod ord">
        <pc:chgData name="Viplove Bisen" userId="46f1591d-eef5-4397-b72d-ff9377ac01bf" providerId="ADAL" clId="{133C2016-0089-4AFF-B7EF-FB7D92197C6A}" dt="2026-04-22T07:02:08.665" v="107" actId="12"/>
        <pc:sldMkLst>
          <pc:docMk/>
          <pc:sldMk cId="0" sldId="256"/>
        </pc:sldMkLst>
        <pc:spChg chg="mod">
          <ac:chgData name="Viplove Bisen" userId="46f1591d-eef5-4397-b72d-ff9377ac01bf" providerId="ADAL" clId="{133C2016-0089-4AFF-B7EF-FB7D92197C6A}" dt="2026-04-22T07:01:57.248" v="105" actId="404"/>
          <ac:spMkLst>
            <pc:docMk/>
            <pc:sldMk cId="0" sldId="256"/>
            <ac:spMk id="3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2T07:01:45.885" v="89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2T07:02:04.033" v="106" actId="12"/>
          <ac:spMkLst>
            <pc:docMk/>
            <pc:sldMk cId="0" sldId="256"/>
            <ac:spMk id="10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2T07:02:08.665" v="107" actId="12"/>
          <ac:spMkLst>
            <pc:docMk/>
            <pc:sldMk cId="0" sldId="256"/>
            <ac:spMk id="13" creationId="{00000000-0000-0000-0000-000000000000}"/>
          </ac:spMkLst>
        </pc:spChg>
        <pc:spChg chg="add del">
          <ac:chgData name="Viplove Bisen" userId="46f1591d-eef5-4397-b72d-ff9377ac01bf" providerId="ADAL" clId="{133C2016-0089-4AFF-B7EF-FB7D92197C6A}" dt="2026-04-22T06:58:26.619" v="48" actId="22"/>
          <ac:spMkLst>
            <pc:docMk/>
            <pc:sldMk cId="0" sldId="256"/>
            <ac:spMk id="22" creationId="{2C5D39D5-4A43-CD10-6B18-D7D1A4CD53BF}"/>
          </ac:spMkLst>
        </pc:spChg>
      </pc:sldChg>
      <pc:sldChg chg="modSp mod">
        <pc:chgData name="Viplove Bisen" userId="46f1591d-eef5-4397-b72d-ff9377ac01bf" providerId="ADAL" clId="{133C2016-0089-4AFF-B7EF-FB7D92197C6A}" dt="2026-04-22T07:01:09.822" v="77" actId="20577"/>
        <pc:sldMkLst>
          <pc:docMk/>
          <pc:sldMk cId="0" sldId="265"/>
        </pc:sldMkLst>
        <pc:spChg chg="mod">
          <ac:chgData name="Viplove Bisen" userId="46f1591d-eef5-4397-b72d-ff9377ac01bf" providerId="ADAL" clId="{133C2016-0089-4AFF-B7EF-FB7D92197C6A}" dt="2026-04-22T07:01:09.822" v="77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2T06:49:41.054" v="41" actId="20577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Viplove Bisen" userId="46f1591d-eef5-4397-b72d-ff9377ac01bf" providerId="ADAL" clId="{133C2016-0089-4AFF-B7EF-FB7D92197C6A}" dt="2026-04-22T07:01:16.590" v="88" actId="313"/>
        <pc:sldMkLst>
          <pc:docMk/>
          <pc:sldMk cId="0" sldId="266"/>
        </pc:sldMkLst>
        <pc:spChg chg="mod">
          <ac:chgData name="Viplove Bisen" userId="46f1591d-eef5-4397-b72d-ff9377ac01bf" providerId="ADAL" clId="{133C2016-0089-4AFF-B7EF-FB7D92197C6A}" dt="2026-04-22T07:01:16.590" v="88" actId="313"/>
          <ac:spMkLst>
            <pc:docMk/>
            <pc:sldMk cId="0" sldId="266"/>
            <ac:spMk id="2" creationId="{00000000-0000-0000-0000-000000000000}"/>
          </ac:spMkLst>
        </pc:spChg>
      </pc:sldChg>
      <pc:sldChg chg="addSp delSp modSp new mod ord">
        <pc:chgData name="Viplove Bisen" userId="46f1591d-eef5-4397-b72d-ff9377ac01bf" providerId="ADAL" clId="{133C2016-0089-4AFF-B7EF-FB7D92197C6A}" dt="2026-04-22T07:00:22.638" v="67" actId="478"/>
        <pc:sldMkLst>
          <pc:docMk/>
          <pc:sldMk cId="454896098" sldId="269"/>
        </pc:sldMkLst>
        <pc:spChg chg="add mod">
          <ac:chgData name="Viplove Bisen" userId="46f1591d-eef5-4397-b72d-ff9377ac01bf" providerId="ADAL" clId="{133C2016-0089-4AFF-B7EF-FB7D92197C6A}" dt="2026-04-22T06:59:03.955" v="49"/>
          <ac:spMkLst>
            <pc:docMk/>
            <pc:sldMk cId="454896098" sldId="269"/>
            <ac:spMk id="3" creationId="{474CD843-44F6-7388-2E3A-D964CE67E9A1}"/>
          </ac:spMkLst>
        </pc:spChg>
        <pc:spChg chg="mod">
          <ac:chgData name="Viplove Bisen" userId="46f1591d-eef5-4397-b72d-ff9377ac01bf" providerId="ADAL" clId="{133C2016-0089-4AFF-B7EF-FB7D92197C6A}" dt="2026-04-22T07:00:13.545" v="63" actId="12"/>
          <ac:spMkLst>
            <pc:docMk/>
            <pc:sldMk cId="454896098" sldId="269"/>
            <ac:spMk id="4" creationId="{653134E6-0A9E-5CBA-90F1-759768E39863}"/>
          </ac:spMkLst>
        </pc:spChg>
        <pc:spChg chg="del mod">
          <ac:chgData name="Viplove Bisen" userId="46f1591d-eef5-4397-b72d-ff9377ac01bf" providerId="ADAL" clId="{133C2016-0089-4AFF-B7EF-FB7D92197C6A}" dt="2026-04-22T07:00:17.013" v="65" actId="478"/>
          <ac:spMkLst>
            <pc:docMk/>
            <pc:sldMk cId="454896098" sldId="269"/>
            <ac:spMk id="5" creationId="{C0CADAFA-F994-1595-C12F-28C4D8534C5D}"/>
          </ac:spMkLst>
        </pc:spChg>
        <pc:spChg chg="add del mod">
          <ac:chgData name="Viplove Bisen" userId="46f1591d-eef5-4397-b72d-ff9377ac01bf" providerId="ADAL" clId="{133C2016-0089-4AFF-B7EF-FB7D92197C6A}" dt="2026-04-22T07:00:21.141" v="66" actId="478"/>
          <ac:spMkLst>
            <pc:docMk/>
            <pc:sldMk cId="454896098" sldId="269"/>
            <ac:spMk id="6" creationId="{F2608BD6-E7E2-DCF2-DFE9-825E09106F21}"/>
          </ac:spMkLst>
        </pc:spChg>
        <pc:spChg chg="del mod">
          <ac:chgData name="Viplove Bisen" userId="46f1591d-eef5-4397-b72d-ff9377ac01bf" providerId="ADAL" clId="{133C2016-0089-4AFF-B7EF-FB7D92197C6A}" dt="2026-04-22T07:00:22.638" v="67" actId="478"/>
          <ac:spMkLst>
            <pc:docMk/>
            <pc:sldMk cId="454896098" sldId="269"/>
            <ac:spMk id="7" creationId="{17EF78A2-5E64-001D-3DA2-762BF6ACB4B8}"/>
          </ac:spMkLst>
        </pc:spChg>
        <pc:spChg chg="add mod">
          <ac:chgData name="Viplove Bisen" userId="46f1591d-eef5-4397-b72d-ff9377ac01bf" providerId="ADAL" clId="{133C2016-0089-4AFF-B7EF-FB7D92197C6A}" dt="2026-04-22T06:59:03.955" v="49"/>
          <ac:spMkLst>
            <pc:docMk/>
            <pc:sldMk cId="454896098" sldId="269"/>
            <ac:spMk id="9" creationId="{8B146D39-02E9-4990-3D02-BA6483325B71}"/>
          </ac:spMkLst>
        </pc:spChg>
        <pc:spChg chg="mod">
          <ac:chgData name="Viplove Bisen" userId="46f1591d-eef5-4397-b72d-ff9377ac01bf" providerId="ADAL" clId="{133C2016-0089-4AFF-B7EF-FB7D92197C6A}" dt="2026-04-22T06:59:31.176" v="51" actId="12"/>
          <ac:spMkLst>
            <pc:docMk/>
            <pc:sldMk cId="454896098" sldId="269"/>
            <ac:spMk id="10" creationId="{CAE8BA10-E86A-775F-D408-9DE32DF0AB32}"/>
          </ac:spMkLst>
        </pc:spChg>
        <pc:spChg chg="add mod">
          <ac:chgData name="Viplove Bisen" userId="46f1591d-eef5-4397-b72d-ff9377ac01bf" providerId="ADAL" clId="{133C2016-0089-4AFF-B7EF-FB7D92197C6A}" dt="2026-04-22T06:59:03.955" v="49"/>
          <ac:spMkLst>
            <pc:docMk/>
            <pc:sldMk cId="454896098" sldId="269"/>
            <ac:spMk id="11" creationId="{A6470B97-D2F2-1A3D-0F54-29A64EF25235}"/>
          </ac:spMkLst>
        </pc:spChg>
        <pc:spChg chg="add mod">
          <ac:chgData name="Viplove Bisen" userId="46f1591d-eef5-4397-b72d-ff9377ac01bf" providerId="ADAL" clId="{133C2016-0089-4AFF-B7EF-FB7D92197C6A}" dt="2026-04-22T06:59:34.249" v="52" actId="12"/>
          <ac:spMkLst>
            <pc:docMk/>
            <pc:sldMk cId="454896098" sldId="269"/>
            <ac:spMk id="13" creationId="{929D3EA8-DECE-E521-C66A-9F6E05667086}"/>
          </ac:spMkLst>
        </pc:spChg>
        <pc:spChg chg="add mod">
          <ac:chgData name="Viplove Bisen" userId="46f1591d-eef5-4397-b72d-ff9377ac01bf" providerId="ADAL" clId="{133C2016-0089-4AFF-B7EF-FB7D92197C6A}" dt="2026-04-22T06:59:03.955" v="49"/>
          <ac:spMkLst>
            <pc:docMk/>
            <pc:sldMk cId="454896098" sldId="269"/>
            <ac:spMk id="15" creationId="{B5EAC412-EFF3-11F2-3E9C-89ED29DB850B}"/>
          </ac:spMkLst>
        </pc:spChg>
        <pc:spChg chg="add mod">
          <ac:chgData name="Viplove Bisen" userId="46f1591d-eef5-4397-b72d-ff9377ac01bf" providerId="ADAL" clId="{133C2016-0089-4AFF-B7EF-FB7D92197C6A}" dt="2026-04-22T06:59:36.639" v="53" actId="12"/>
          <ac:spMkLst>
            <pc:docMk/>
            <pc:sldMk cId="454896098" sldId="269"/>
            <ac:spMk id="16" creationId="{9F81CE25-FCBA-9B38-CDC2-E54218131FC0}"/>
          </ac:spMkLst>
        </pc:spChg>
        <pc:spChg chg="add del mod">
          <ac:chgData name="Viplove Bisen" userId="46f1591d-eef5-4397-b72d-ff9377ac01bf" providerId="ADAL" clId="{133C2016-0089-4AFF-B7EF-FB7D92197C6A}" dt="2026-04-22T06:59:44.813" v="54" actId="478"/>
          <ac:spMkLst>
            <pc:docMk/>
            <pc:sldMk cId="454896098" sldId="269"/>
            <ac:spMk id="17" creationId="{7883DA84-CE4E-B150-9965-43E5E7A2B9E8}"/>
          </ac:spMkLst>
        </pc:spChg>
        <pc:spChg chg="add mod">
          <ac:chgData name="Viplove Bisen" userId="46f1591d-eef5-4397-b72d-ff9377ac01bf" providerId="ADAL" clId="{133C2016-0089-4AFF-B7EF-FB7D92197C6A}" dt="2026-04-22T06:59:03.955" v="49"/>
          <ac:spMkLst>
            <pc:docMk/>
            <pc:sldMk cId="454896098" sldId="269"/>
            <ac:spMk id="18" creationId="{1E1929A8-DCFD-0BA8-5CE3-AC61AC70F480}"/>
          </ac:spMkLst>
        </pc:spChg>
        <pc:spChg chg="add mod">
          <ac:chgData name="Viplove Bisen" userId="46f1591d-eef5-4397-b72d-ff9377ac01bf" providerId="ADAL" clId="{133C2016-0089-4AFF-B7EF-FB7D92197C6A}" dt="2026-04-22T06:59:03.955" v="49"/>
          <ac:spMkLst>
            <pc:docMk/>
            <pc:sldMk cId="454896098" sldId="269"/>
            <ac:spMk id="20" creationId="{BFE99E22-A15C-C36E-594C-7A11EEAA308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8A187D-BF81-B049-796F-00C5E7E32BBC}"/>
              </a:ext>
            </a:extLst>
          </p:cNvPr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4CD843-44F6-7388-2E3A-D964CE67E9A1}"/>
              </a:ext>
            </a:extLst>
          </p:cNvPr>
          <p:cNvSpPr txBox="1"/>
          <p:nvPr/>
        </p:nvSpPr>
        <p:spPr>
          <a:xfrm>
            <a:off x="640080" y="914400"/>
            <a:ext cx="8138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</a:defRPr>
            </a:pPr>
            <a:r>
              <a:rPr dirty="0"/>
              <a:t>BOA Jarvis Modernization Approaches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3134E6-0A9E-5CBA-90F1-759768E39863}"/>
              </a:ext>
            </a:extLst>
          </p:cNvPr>
          <p:cNvSpPr txBox="1"/>
          <p:nvPr/>
        </p:nvSpPr>
        <p:spPr>
          <a:xfrm>
            <a:off x="658368" y="1719072"/>
            <a:ext cx="786384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rPr dirty="0"/>
              <a:t>Three POC options to modernize UFT VBScript mainframe automation: </a:t>
            </a:r>
            <a:endParaRPr lang="en-US" dirty="0"/>
          </a:p>
          <a:p>
            <a:pPr marL="342900" indent="-342900" algn="l">
              <a:buFont typeface="+mj-lt"/>
              <a:buAutoNum type="arabicPeriod"/>
              <a:defRPr sz="1600" b="0">
                <a:solidFill>
                  <a:srgbClr val="475569"/>
                </a:solidFill>
              </a:defRPr>
            </a:pPr>
            <a:r>
              <a:rPr dirty="0" err="1"/>
              <a:t>LeanFT</a:t>
            </a:r>
            <a:r>
              <a:rPr dirty="0"/>
              <a:t> JavaScript</a:t>
            </a:r>
            <a:endParaRPr lang="en-US" dirty="0"/>
          </a:p>
          <a:p>
            <a:pPr marL="342900" indent="-342900" algn="l">
              <a:buFont typeface="+mj-lt"/>
              <a:buAutoNum type="arabicPeriod"/>
              <a:defRPr sz="1600" b="0">
                <a:solidFill>
                  <a:srgbClr val="475569"/>
                </a:solidFill>
              </a:defRPr>
            </a:pPr>
            <a:r>
              <a:rPr dirty="0"/>
              <a:t>Python py3270</a:t>
            </a:r>
            <a:endParaRPr lang="en-US" dirty="0"/>
          </a:p>
          <a:p>
            <a:pPr marL="342900" indent="-342900" algn="l">
              <a:buFont typeface="+mj-lt"/>
              <a:buAutoNum type="arabicPeriod"/>
              <a:defRPr sz="1600" b="0">
                <a:solidFill>
                  <a:srgbClr val="475569"/>
                </a:solidFill>
              </a:defRPr>
            </a:pPr>
            <a:r>
              <a:rPr dirty="0" err="1"/>
              <a:t>LeanFT</a:t>
            </a:r>
            <a:r>
              <a:rPr dirty="0"/>
              <a:t> Java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CAC6F24-6BC8-1BF3-27EF-4837A110BF81}"/>
              </a:ext>
            </a:extLst>
          </p:cNvPr>
          <p:cNvSpPr/>
          <p:nvPr/>
        </p:nvSpPr>
        <p:spPr>
          <a:xfrm>
            <a:off x="685800" y="2926080"/>
            <a:ext cx="3337560" cy="182880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146D39-02E9-4990-3D02-BA6483325B71}"/>
              </a:ext>
            </a:extLst>
          </p:cNvPr>
          <p:cNvSpPr txBox="1"/>
          <p:nvPr/>
        </p:nvSpPr>
        <p:spPr>
          <a:xfrm>
            <a:off x="822960" y="299923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Approach 1: LeanFT JavaScript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E8BA10-E86A-775F-D408-9DE32DF0AB32}"/>
              </a:ext>
            </a:extLst>
          </p:cNvPr>
          <p:cNvSpPr txBox="1"/>
          <p:nvPr/>
        </p:nvSpPr>
        <p:spPr>
          <a:xfrm>
            <a:off x="822960" y="3273552"/>
            <a:ext cx="3063240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dirty="0"/>
              <a:t>VS Code, Jasmine, and JavaScript-based </a:t>
            </a:r>
            <a:r>
              <a:rPr dirty="0" err="1"/>
              <a:t>LeanFT</a:t>
            </a:r>
            <a:r>
              <a:rPr dirty="0"/>
              <a:t> framework.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dirty="0"/>
              <a:t>Strong fit when the team wants modern scripting with </a:t>
            </a:r>
            <a:r>
              <a:rPr dirty="0" err="1"/>
              <a:t>LeanFT</a:t>
            </a:r>
            <a:r>
              <a:rPr dirty="0"/>
              <a:t> support.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6470B97-D2F2-1A3D-0F54-29A64EF25235}"/>
              </a:ext>
            </a:extLst>
          </p:cNvPr>
          <p:cNvSpPr/>
          <p:nvPr/>
        </p:nvSpPr>
        <p:spPr>
          <a:xfrm>
            <a:off x="4160520" y="2926080"/>
            <a:ext cx="3337560" cy="182880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FBE0D5-4E1B-4BB7-FA37-A7DA07C9BF96}"/>
              </a:ext>
            </a:extLst>
          </p:cNvPr>
          <p:cNvSpPr txBox="1"/>
          <p:nvPr/>
        </p:nvSpPr>
        <p:spPr>
          <a:xfrm>
            <a:off x="4297680" y="299923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Approach 2: Python py3270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9D3EA8-DECE-E521-C66A-9F6E05667086}"/>
              </a:ext>
            </a:extLst>
          </p:cNvPr>
          <p:cNvSpPr txBox="1"/>
          <p:nvPr/>
        </p:nvSpPr>
        <p:spPr>
          <a:xfrm>
            <a:off x="4297680" y="3273552"/>
            <a:ext cx="3063240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dirty="0"/>
              <a:t>Open-source, zero-license option using </a:t>
            </a:r>
            <a:r>
              <a:rPr dirty="0" err="1"/>
              <a:t>pytest</a:t>
            </a:r>
            <a:r>
              <a:rPr dirty="0"/>
              <a:t> and direct TN3270 socket access.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dirty="0"/>
              <a:t>Strong fit when BOA prefers a lower-cost, headless automation model.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501978-5E2D-2103-ECE7-C9EF30D0C27A}"/>
              </a:ext>
            </a:extLst>
          </p:cNvPr>
          <p:cNvSpPr/>
          <p:nvPr/>
        </p:nvSpPr>
        <p:spPr>
          <a:xfrm>
            <a:off x="7635240" y="2926080"/>
            <a:ext cx="3566160" cy="182880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EAC412-EFF3-11F2-3E9C-89ED29DB850B}"/>
              </a:ext>
            </a:extLst>
          </p:cNvPr>
          <p:cNvSpPr txBox="1"/>
          <p:nvPr/>
        </p:nvSpPr>
        <p:spPr>
          <a:xfrm>
            <a:off x="7772400" y="2999232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</a:defRPr>
            </a:pPr>
            <a:r>
              <a:t>Approach 3: LeanFT Java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81CE25-FCBA-9B38-CDC2-E54218131FC0}"/>
              </a:ext>
            </a:extLst>
          </p:cNvPr>
          <p:cNvSpPr txBox="1"/>
          <p:nvPr/>
        </p:nvSpPr>
        <p:spPr>
          <a:xfrm>
            <a:off x="7772400" y="3273552"/>
            <a:ext cx="3291840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dirty="0"/>
              <a:t>Java, TestNG, and Maven-based </a:t>
            </a:r>
            <a:r>
              <a:rPr dirty="0" err="1"/>
              <a:t>LeanFT</a:t>
            </a:r>
            <a:r>
              <a:rPr dirty="0"/>
              <a:t> implementation.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dirty="0"/>
              <a:t>Strong fit when BOA prefers a typed enterprise Java stack.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1929A8-DCFD-0BA8-5CE3-AC61AC70F480}"/>
              </a:ext>
            </a:extLst>
          </p:cNvPr>
          <p:cNvSpPr txBox="1"/>
          <p:nvPr/>
        </p:nvSpPr>
        <p:spPr>
          <a:xfrm>
            <a:off x="685800" y="52120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Prepared on 22 Apr 2026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AD8B7-B985-4722-A04B-3FA5DBBF173F}"/>
              </a:ext>
            </a:extLst>
          </p:cNvPr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E99E22-A15C-C36E-594C-7A11EEAA308E}"/>
              </a:ext>
            </a:extLst>
          </p:cNvPr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5F225B-7536-3834-CCF0-A799F93AA231}"/>
              </a:ext>
            </a:extLst>
          </p:cNvPr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54896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</a:defRPr>
            </a:pPr>
            <a:r>
              <a:rPr lang="en-US" sz="2400" dirty="0"/>
              <a:t>Approach 1 : </a:t>
            </a:r>
            <a:r>
              <a:rPr sz="2400" dirty="0"/>
              <a:t>BOA Jarvis to </a:t>
            </a:r>
            <a:r>
              <a:rPr sz="2400" dirty="0" err="1"/>
              <a:t>LeanFT</a:t>
            </a:r>
            <a:r>
              <a:rPr sz="2400" dirty="0"/>
              <a:t> JavaScript Migration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19072"/>
            <a:ext cx="7589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rPr dirty="0"/>
              <a:t>Modernizing UFT VBScript mainframe automation to a VS Code, Jasmine, and </a:t>
            </a:r>
            <a:r>
              <a:rPr dirty="0" err="1"/>
              <a:t>LeanFT</a:t>
            </a:r>
            <a:r>
              <a:rPr dirty="0"/>
              <a:t> engineering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969264"/>
            <a:ext cx="3383280" cy="1920240"/>
          </a:xfrm>
          <a:prstGeom prst="roundRect">
            <a:avLst/>
          </a:prstGeom>
          <a:solidFill>
            <a:srgbClr val="FFEDD5"/>
          </a:solidFill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66760" y="11430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9250C"/>
                </a:solidFill>
              </a:defRPr>
            </a:pPr>
            <a:r>
              <a:t>Presentation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5544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Preserve the layered Jarvis design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Modernize language, tooling, and CI/CD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Show a practical migration factory 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3337560" cy="182880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99923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What this POC proves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73552"/>
            <a:ext cx="306324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dirty="0" err="1"/>
              <a:t>LeanFT</a:t>
            </a:r>
            <a:r>
              <a:rPr dirty="0"/>
              <a:t> JavaScript can drive TN3270 through an existing HLLAPI-capable emulator.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dirty="0"/>
              <a:t>Jarvis concepts map cleanly into driver, keyword, object repository, data, config, and reporting layers.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926080"/>
            <a:ext cx="3337560" cy="182880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299923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POC flows in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273552"/>
            <a:ext cx="3063240" cy="884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dirty="0"/>
              <a:t>Login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dirty="0"/>
              <a:t>Account Inquiry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dirty="0"/>
              <a:t>Funds Transfer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dirty="0"/>
              <a:t>Jenkins execution across SIT and UAT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926080"/>
            <a:ext cx="3566160" cy="182880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2999232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</a:defRPr>
            </a:pPr>
            <a:r>
              <a:t>Evidence used for this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73552"/>
            <a:ext cx="32918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Architecture docs in docs/01 and docs/02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Framework context files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Actual runner.js, terminalHelper.js, screens.js, and Jasmine spec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120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Prepared on 22 Apr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migration does not require rethinking the testing model. It modernizes the implementation stack and delivery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657600" cy="155448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</a:defRPr>
            </a:pPr>
            <a:r>
              <a:t>Current-state constraint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2"/>
            <a:ext cx="33832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Jarvis depends on VBScript, UFT artifacts, XML flows, and binary object repository assets that are harder to diff, review, and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737360"/>
            <a:ext cx="3657600" cy="15544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810512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Target-state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84832"/>
            <a:ext cx="33832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The new framework keeps the same layered design but uses LeanFT JavaScript, Jasmine, plain-text screen definitions, JSON or Excel-backed test data, and Jenkins-ready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737360"/>
            <a:ext cx="3154680" cy="15544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181051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Business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084832"/>
            <a:ext cx="2880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Faster onboarding, cleaner Git visibility, better IDE support, and an AI-assisted migration pattern.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What remains familiar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Layered automation design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Keyword-driven mainframe interactions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Central object repository and external configuration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Data-driven execution and Jenkins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65760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What improves materially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97763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VBScript to modern JavaScript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Binary assets to plain-text source-controlled files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UFT-centric authoring to VS Code + GitHub Copilot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Manual migration effort reduced by a deterministic BOA migration 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Current State Architecture: Jarvis / UFT / VBScript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2742" y="1304597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current model is modular, but several layers are implemented with older and more opaque technologies.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743200" cy="105156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Spreadsheet-driven suite definitions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Execution entry point for business scenarios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828800"/>
            <a:ext cx="2743200" cy="105156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7627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XML flow orchestration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Externalized step sequencing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828800"/>
            <a:ext cx="2743200" cy="105156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80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217627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Spreadsheet-based data sets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Separate from scripts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2743200" cy="105156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45643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Execution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3075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Jarvis / UFT driver-runner model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Scenario coordination and playback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383280"/>
            <a:ext cx="2743200" cy="105156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345643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Libraries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73075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.qfl VBScript keyword libraries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Reusable screen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383280"/>
            <a:ext cx="2743200" cy="105156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26680" y="345643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Object Repository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373075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UFT .tsr or .mtr assets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Binary-style repository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37760"/>
            <a:ext cx="274320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01091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Configuration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8523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Config templates and runtime settings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4937760"/>
            <a:ext cx="274320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97680" y="501091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28523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UFT HTML reports and zipped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4937760"/>
            <a:ext cx="274320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26680" y="501091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CI/CD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528523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Jenkins integration present, but framework tooling remains UFT-centric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62895" y="1042889"/>
            <a:ext cx="1691640" cy="502920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77658" y="1130861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Pain 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2895" y="186853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VBScript deprecation risk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Harder Git diff and code review experience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Less developer-friendly tooling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Manual migration of legacy assets is slower without structured accelerators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Migration Mapping: Jarvis Components to the New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POC preserves the business testing intent while swapping each legacy layer for a modern equivalent.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Jarvis component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Current technology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Target component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Target technology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Excel spreadsheet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spec/ftdtest_jasmine_spec.js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Jasmine JavaScript spec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 Flow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XML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describe / it blocks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Native JavaScript structure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Excel spreadsheet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testdata JSON + xlsx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JSON or Excel via Node.js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Execution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UFT proprietary runner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driver/runner.js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LeanFT SDK lifecycle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Libraries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.qfl VBScript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libraries/terminalHelper.js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Reusable JS keywords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Object Repository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UFT .tsr / .mtr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objectrepository/screens.js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Plain-text screen metadata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Config templates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config/settings.js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Node module + env vars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Reporting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UFT report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results/ LeanFT report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HTML report with snapshots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Jenkinsfile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Jenkinsfile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Parameterized SIT / UAT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44768"/>
            <a:ext cx="10972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9250C"/>
                </a:solidFill>
              </a:defRPr>
            </a:pPr>
            <a:r>
              <a:rPr lang="en-US"/>
              <a:t>T</a:t>
            </a:r>
            <a:r>
              <a:t>his is a migration with continuity, not a rewrite with loss of control.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Target Architecture: LeanFT JavaScript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implementation already present in the POC follows a modern, reviewable, and modular 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23160" cy="114300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Jasmine spec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Business scenarios and assertions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828800"/>
            <a:ext cx="2423160" cy="114300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Driver / Runner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LeanFT init / cleanup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Shared TE session lifecycle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828800"/>
            <a:ext cx="2423160" cy="114300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Action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terminalHelper.js keywords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Mainframe business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828800"/>
            <a:ext cx="2423160" cy="114300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Object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screens.js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Identifiers, fields, and key maps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JSON default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Excel support via xlsx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4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settings.js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TE short name, env, timeouts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LeanFT HTML report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Snapshots and pass/fail logging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CI/CD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Jenkins SIT / UAT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Filterable suite execution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5303520"/>
            <a:ext cx="4480560" cy="713232"/>
          </a:xfrm>
          <a:prstGeom prst="roundRect">
            <a:avLst/>
          </a:prstGeom>
          <a:solidFill>
            <a:srgbClr val="E2E8F0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69080" y="5468112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IBM Mainframe through an existing HLLAPI-capable terminal emulator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28032" y="2980944"/>
            <a:ext cx="0" cy="630936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08392" y="2980944"/>
            <a:ext cx="0" cy="630936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08392" y="4846320"/>
            <a:ext cx="0" cy="45720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9808" y="612648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Important architecture note: LeanFT does not open TN3270 directly; it automates an already-running emulator session via HLLAPI.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D1B31C-4B84-B454-DD19-C33C0F25C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567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Why This Framework Is Better for Delivery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technical modernization is paired with a better authoring and migration experience for the QE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</a:defRPr>
            </a:pPr>
            <a:r>
              <a:t>Engineering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JavaScript is closer to VBScript than Java or C#, which reduces training friction.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VS Code provides a lightweight and familiar IDE with Git-native workflows.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Plain-text repository assets are easier to review, diff, branch, and promote.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Jasmine plus npm gives a simple, CI-friendly execution model.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JSON-first test data can still coexist with Excel input when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8308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</a:defRPr>
            </a:pPr>
            <a:r>
              <a:t>Acceleration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4846320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GitHub Copilot can assist with routine coding, refactoring, and test authoring inside VS Code.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The repo includes a BOA migration agent that reads project context, maps VBScript constructs, generates Jasmine skeletons, and flags only the steps that need manual intervention.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The agent provides a migration delta report, giving traceability from automated translation to remaining manual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669280"/>
            <a:ext cx="10607040" cy="658368"/>
          </a:xfrm>
          <a:prstGeom prst="roundRect">
            <a:avLst/>
          </a:prstGeom>
          <a:solidFill>
            <a:srgbClr val="FFEDD5"/>
          </a:solidFill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5852160"/>
            <a:ext cx="100584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9250C"/>
                </a:solidFill>
              </a:defRPr>
            </a:pPr>
            <a:r>
              <a:rPr lang="en-US"/>
              <a:t>T</a:t>
            </a:r>
            <a:r>
              <a:t>he target stack improves both automation maintainability and migration throughput.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Suggested Migration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factory model is safer than a big-bang conversion. The POC and BOA migration agent support this sequence.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73736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1. Assess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Inventory current suites, libraries, flows, data, and object repository dependencies.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32888" y="1828800"/>
            <a:ext cx="173736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70048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2.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Map Jarvis constructs to the LeanFT JavaScript framework and identify manual-only gaps.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828800"/>
            <a:ext cx="173736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3.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Stabilize target framework layers, CI settings, reporting, and environment conventions.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828800"/>
            <a:ext cx="173736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4.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Migrate representative high-value flows such as login, account inquiry, and funds transfer.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1828800"/>
            <a:ext cx="173736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5. Industrialize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Use Copilot and the migration agent to accelerate repetitive conversions with guardrails.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1828800"/>
            <a:ext cx="173736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0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6.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Expand by application area, validate SIT and UAT behavior, and retire legacy suites in waves.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2519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How the accelerator helps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26280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Loads framework and migration context before translation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Maps known VBScript and UFT constructs deterministically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Creates skeletons, keyword translations, and a migration delta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5196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Operating 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Automate the known mappings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Flag anything that requires live environment confirmation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Do not guess locators, credentials, or environment-specific identifiers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Migration Risks and How to Control Them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main risks are known upfront and can be managed with the right pilot discipline.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258744"/>
              </p:ext>
            </p:extLst>
          </p:nvPr>
        </p:nvGraphicFramePr>
        <p:xfrm>
          <a:off x="640080" y="178308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Risk or dependency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Mitigation in the proposed plan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Screen locators must match live emulator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Capture and validate attachedText values using the LeanFT Object Identification Center; do not guess them in code.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Screen identifiers can vary by environment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Validate identifiers in SIT and UAT during pilot onboarding and keep them centralized in screens.js.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Credentials and sensitive data must not be embedded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Keep credentials out of specs and use managed external test data and environment configuration.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Some custom Jarvis keywords may not have a direct map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Use the migration agent to flag keyword gaps and implement them once in terminalHelper.js for reuse.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Citrix or non-3270 surfaces may require separate treatment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Keep the first migration wave focused on standard TN3270 automation; assess exceptional channels separately.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Execution still depends on a running emulator session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Document emulator setup, session short names, and Jenkins runtime configuration as part of environment readiness.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Recommended Pilot and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Use the current POC as the demonstration baseline, then move into a controlled pilot migration wave.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96596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Pilot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32004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3 to 5 representative business flows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At least one login or navigation pattern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At least one inquiry flow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At least one transaction flow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SIT and UAT execution through Jenkins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196596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Success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76272"/>
            <a:ext cx="32004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Functional parity with selected Jarvis flows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Stable object repository and environment settings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Repeatable CI execution and report publication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Measured reduction in migration effort for each additional 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28800"/>
            <a:ext cx="3474720" cy="196596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47304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9250C"/>
                </a:solidFill>
              </a:defRPr>
            </a:pPr>
            <a:r>
              <a:t>Immediate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176272"/>
            <a:ext cx="32004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Confirm pilot scope and environments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Capture live locators for pilot screens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Prioritize Jarvis suites by reuse and business value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Define governance for AI-assisted migration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-4728" y="1091762"/>
            <a:ext cx="5349240" cy="4674476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0516" y="1420992"/>
            <a:ext cx="5074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</a:defRPr>
            </a:pPr>
            <a:r>
              <a:t>What we need from Bank of America to continue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432" y="2471030"/>
            <a:ext cx="507492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400"/>
              <a:t>Access to a BOA test environment with the actual mainframe application and representative user journeys.</a:t>
            </a:r>
            <a:endParaRPr lang="en-US" sz="14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4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400"/>
              <a:t>One BOA-side SME, tester, or engineer working closely with us to validate screens, navigation, and expected results</a:t>
            </a:r>
            <a:r>
              <a:rPr lang="en-US" sz="1400"/>
              <a:t>. Once we are inside BOA network</a:t>
            </a:r>
            <a:r>
              <a:rPr sz="1400"/>
              <a:t>.</a:t>
            </a:r>
            <a:endParaRPr lang="en-US" sz="14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4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400"/>
              <a:t>Support to configure the terminal emulator, session short names, host connectivity, and any environment-specific runtime settings.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6359" y="1091762"/>
            <a:ext cx="5029200" cy="4943751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46757" y="1311953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</a:defRPr>
            </a:pPr>
            <a:r>
              <a:t>Dependencies and open questions for 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0221" y="2493556"/>
            <a:ext cx="475488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/>
              <a:t>Which BOA environments are available for SIT, UAT, or pilot execution?</a:t>
            </a:r>
            <a:endParaRPr lang="en-US" sz="12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2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/>
              <a:t>What emulator, access controls, credentials handling, and network prerequisites are required?</a:t>
            </a:r>
            <a:endParaRPr lang="en-US" sz="12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2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/>
              <a:t>Which flows, test data, and application variants should be the first migration wave?</a:t>
            </a:r>
            <a:endParaRPr lang="en-US" sz="12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20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/>
              <a:t>Are there any BOA-specific dependencies such as Citrix, middleware hops, or security approvals we should plan for?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755" y="6121735"/>
            <a:ext cx="1004751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59250C"/>
                </a:solidFill>
              </a:defRPr>
            </a:pPr>
            <a:r>
              <a:rPr lang="en-US" sz="1600"/>
              <a:t>T</a:t>
            </a:r>
            <a:r>
              <a:rPr sz="1600"/>
              <a:t>o move beyond the current POC, one of the team members should work with BOA in the real environment to complete setup, validate locators, and industrialize the migration path.</a:t>
            </a:r>
          </a:p>
        </p:txBody>
      </p:sp>
    </p:spTree>
    <p:extLst>
      <p:ext uri="{BB962C8B-B14F-4D97-AF65-F5344CB8AC3E}">
        <p14:creationId xmlns:p14="http://schemas.microsoft.com/office/powerpoint/2010/main" val="2051443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2613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rPr dirty="0"/>
              <a:t>A</a:t>
            </a:r>
            <a:r>
              <a:rPr lang="en-US" dirty="0"/>
              <a:t>pproach 2</a:t>
            </a:r>
            <a:r>
              <a:rPr dirty="0"/>
              <a:t>: Python / py3270 Open-Source POC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second branch demonstrates a lower-cost modernization path using Python, pytest, and direct TN3270 connectivity.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What this POC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Branch: python_based_open_source_poc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Stack: Python 3.10+, py3270, pytest, pytest-html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Direct TN3270 over s3270 subprocess, no LeanFT, no HLLAPI, no emulator license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Architecture in one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pytest suite -&gt; runner.py -&gt; terminal_helper.py -&gt; py3270 -&gt; s3270 -&gt; TN3270 socket -&gt; mainframe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The same layered model is retained: config, driver, action layer, object repository, test data, reporting, and Jenkins 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28800"/>
            <a:ext cx="347472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47304" y="1901952"/>
            <a:ext cx="3200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9250C"/>
                </a:solidFill>
              </a:defRPr>
            </a:pPr>
            <a:r>
              <a:rPr lang="en-US"/>
              <a:t>Advantage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47304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Zero licensing cost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Headless execution model suited for CI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Useful as an alternate modernization option if BOA prefers open-source tooling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9768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Key differences from the LeanFT POC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7200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Python instead of JavaScript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pytest instead of Jasmine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Direct socket connectivity instead of emulator-driven HLLAPI 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26280"/>
            <a:ext cx="4983480" cy="1005840"/>
          </a:xfrm>
          <a:prstGeom prst="roundRect">
            <a:avLst/>
          </a:prstGeom>
          <a:solidFill>
            <a:srgbClr val="FEF9C3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4773168"/>
            <a:ext cx="452628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9250C"/>
                </a:solidFill>
              </a:defRPr>
            </a:pPr>
            <a:r>
              <a:rPr lang="en-US"/>
              <a:t>T</a:t>
            </a:r>
            <a:r>
              <a:t>his as an optional open-source alternate path, not a replacement for the primary </a:t>
            </a:r>
            <a:r>
              <a:rPr err="1"/>
              <a:t>LeanFT</a:t>
            </a:r>
            <a:r>
              <a:t> migration story unless BOA wants a no-license model.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47716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rPr lang="en-US" dirty="0"/>
              <a:t>Approach 3</a:t>
            </a:r>
            <a:r>
              <a:rPr dirty="0"/>
              <a:t>: Java / </a:t>
            </a:r>
            <a:r>
              <a:rPr dirty="0" err="1"/>
              <a:t>LeanFT</a:t>
            </a:r>
            <a:r>
              <a:rPr dirty="0"/>
              <a:t> POC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This branch also shows a Java-based LeanFT implementation for teams that prefer a Java and Maven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What this POC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Stack: Java 11+, LeanFT runtime engine, TestNG, Maven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Main files: BaseTest.java, TerminalHelper.java, Screens.java, FtdMainframeTest.java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LeanFT HTML reporting with screenshots and step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Architecture in one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TestNG suite -&gt; BaseTest -&gt; TerminalHelper -&gt; LeanFT TE SDK -&gt; terminal emulator session -&gt; mainframe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The same layered model is preserved with config, data provider, object repository, action layer, reporting, and Jenkins 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28800"/>
            <a:ext cx="347472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47304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9250C"/>
                </a:solidFill>
              </a:defRPr>
            </a:pPr>
            <a:r>
              <a:t>Why mention it to the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Suitable if BOA has stronger Java engineering alignment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Fits enterprise Maven and TestNG delivery patterns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Still modernizes Jarvis while staying within the LeanFT ecosystem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97680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Key characteristics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7200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rPr dirty="0"/>
              <a:t>Java instead of JavaScript or Python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rPr dirty="0"/>
              <a:t>TestNG and Maven instead of Jasmine or </a:t>
            </a:r>
            <a:r>
              <a:rPr dirty="0" err="1"/>
              <a:t>pytest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rPr dirty="0"/>
              <a:t>Requires </a:t>
            </a:r>
            <a:r>
              <a:rPr dirty="0" err="1"/>
              <a:t>LeanFT</a:t>
            </a:r>
            <a:r>
              <a:rPr dirty="0"/>
              <a:t> runtime and terminal emulator-based execution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26280"/>
            <a:ext cx="4983480" cy="1005840"/>
          </a:xfrm>
          <a:prstGeom prst="roundRect">
            <a:avLst/>
          </a:prstGeom>
          <a:solidFill>
            <a:srgbClr val="FEF9C3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4736592"/>
            <a:ext cx="452628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9250C"/>
                </a:solidFill>
              </a:defRPr>
            </a:pPr>
            <a:r>
              <a:rPr lang="en-US"/>
              <a:t>T</a:t>
            </a:r>
            <a:r>
              <a:t>his</a:t>
            </a:r>
            <a:r>
              <a:rPr lang="en-US"/>
              <a:t> is a </a:t>
            </a:r>
            <a:r>
              <a:t>second </a:t>
            </a:r>
            <a:r>
              <a:rPr err="1"/>
              <a:t>LeanFT</a:t>
            </a:r>
            <a:r>
              <a:t>-based option for teams that want a typed Java stack and Maven-style enterprise delivery rather than the JavaScript implementation.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2146</Words>
  <Application>Microsoft Office PowerPoint</Application>
  <PresentationFormat>Widescreen</PresentationFormat>
  <Paragraphs>298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Viplove Bisen</cp:lastModifiedBy>
  <cp:revision>1</cp:revision>
  <dcterms:created xsi:type="dcterms:W3CDTF">2013-01-27T09:14:16Z</dcterms:created>
  <dcterms:modified xsi:type="dcterms:W3CDTF">2026-04-22T07:02:12Z</dcterms:modified>
  <cp:category/>
</cp:coreProperties>
</file>