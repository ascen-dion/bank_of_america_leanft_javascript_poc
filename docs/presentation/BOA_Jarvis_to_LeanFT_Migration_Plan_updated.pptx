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7" r:id="rId7"/>
    <p:sldId id="261" r:id="rId8"/>
    <p:sldId id="262" r:id="rId9"/>
    <p:sldId id="263" r:id="rId10"/>
    <p:sldId id="264" r:id="rId11"/>
    <p:sldId id="268" r:id="rId12"/>
    <p:sldId id="265" r:id="rId13"/>
    <p:sldId id="266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CCD063-E842-4EA2-AB37-8D5599A75F55}" v="1" dt="2026-04-22T06:18:34.2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plove Bisen" userId="46f1591d-eef5-4397-b72d-ff9377ac01bf" providerId="ADAL" clId="{133C2016-0089-4AFF-B7EF-FB7D92197C6A}"/>
    <pc:docChg chg="custSel addSld modSld">
      <pc:chgData name="Viplove Bisen" userId="46f1591d-eef5-4397-b72d-ff9377ac01bf" providerId="ADAL" clId="{133C2016-0089-4AFF-B7EF-FB7D92197C6A}" dt="2026-04-22T06:25:12.777" v="171" actId="1076"/>
      <pc:docMkLst>
        <pc:docMk/>
      </pc:docMkLst>
      <pc:sldChg chg="modSp mod">
        <pc:chgData name="Viplove Bisen" userId="46f1591d-eef5-4397-b72d-ff9377ac01bf" providerId="ADAL" clId="{133C2016-0089-4AFF-B7EF-FB7D92197C6A}" dt="2026-04-22T06:25:12.777" v="171" actId="1076"/>
        <pc:sldMkLst>
          <pc:docMk/>
          <pc:sldMk cId="0" sldId="256"/>
        </pc:sldMkLst>
        <pc:spChg chg="mod">
          <ac:chgData name="Viplove Bisen" userId="46f1591d-eef5-4397-b72d-ff9377ac01bf" providerId="ADAL" clId="{133C2016-0089-4AFF-B7EF-FB7D92197C6A}" dt="2026-04-22T06:25:12.777" v="171" actId="1076"/>
          <ac:spMkLst>
            <pc:docMk/>
            <pc:sldMk cId="0" sldId="256"/>
            <ac:spMk id="5" creationId="{00000000-0000-0000-0000-000000000000}"/>
          </ac:spMkLst>
        </pc:spChg>
      </pc:sldChg>
      <pc:sldChg chg="modSp mod">
        <pc:chgData name="Viplove Bisen" userId="46f1591d-eef5-4397-b72d-ff9377ac01bf" providerId="ADAL" clId="{133C2016-0089-4AFF-B7EF-FB7D92197C6A}" dt="2026-04-22T06:14:31.942" v="43" actId="1076"/>
        <pc:sldMkLst>
          <pc:docMk/>
          <pc:sldMk cId="0" sldId="258"/>
        </pc:sldMkLst>
        <pc:spChg chg="mod">
          <ac:chgData name="Viplove Bisen" userId="46f1591d-eef5-4397-b72d-ff9377ac01bf" providerId="ADAL" clId="{133C2016-0089-4AFF-B7EF-FB7D92197C6A}" dt="2026-04-22T06:14:21.806" v="40" actId="1076"/>
          <ac:spMkLst>
            <pc:docMk/>
            <pc:sldMk cId="0" sldId="258"/>
            <ac:spMk id="4" creationId="{00000000-0000-0000-0000-000000000000}"/>
          </ac:spMkLst>
        </pc:spChg>
        <pc:spChg chg="mod">
          <ac:chgData name="Viplove Bisen" userId="46f1591d-eef5-4397-b72d-ff9377ac01bf" providerId="ADAL" clId="{133C2016-0089-4AFF-B7EF-FB7D92197C6A}" dt="2026-04-22T06:14:28.993" v="42" actId="1076"/>
          <ac:spMkLst>
            <pc:docMk/>
            <pc:sldMk cId="0" sldId="258"/>
            <ac:spMk id="32" creationId="{00000000-0000-0000-0000-000000000000}"/>
          </ac:spMkLst>
        </pc:spChg>
        <pc:spChg chg="mod">
          <ac:chgData name="Viplove Bisen" userId="46f1591d-eef5-4397-b72d-ff9377ac01bf" providerId="ADAL" clId="{133C2016-0089-4AFF-B7EF-FB7D92197C6A}" dt="2026-04-22T06:14:31.942" v="43" actId="1076"/>
          <ac:spMkLst>
            <pc:docMk/>
            <pc:sldMk cId="0" sldId="258"/>
            <ac:spMk id="33" creationId="{00000000-0000-0000-0000-000000000000}"/>
          </ac:spMkLst>
        </pc:spChg>
        <pc:spChg chg="mod">
          <ac:chgData name="Viplove Bisen" userId="46f1591d-eef5-4397-b72d-ff9377ac01bf" providerId="ADAL" clId="{133C2016-0089-4AFF-B7EF-FB7D92197C6A}" dt="2026-04-22T06:14:25.668" v="41" actId="1076"/>
          <ac:spMkLst>
            <pc:docMk/>
            <pc:sldMk cId="0" sldId="258"/>
            <ac:spMk id="34" creationId="{00000000-0000-0000-0000-000000000000}"/>
          </ac:spMkLst>
        </pc:spChg>
      </pc:sldChg>
      <pc:sldChg chg="modSp mod">
        <pc:chgData name="Viplove Bisen" userId="46f1591d-eef5-4397-b72d-ff9377ac01bf" providerId="ADAL" clId="{133C2016-0089-4AFF-B7EF-FB7D92197C6A}" dt="2026-04-22T06:13:34.915" v="39" actId="20577"/>
        <pc:sldMkLst>
          <pc:docMk/>
          <pc:sldMk cId="0" sldId="259"/>
        </pc:sldMkLst>
        <pc:spChg chg="mod">
          <ac:chgData name="Viplove Bisen" userId="46f1591d-eef5-4397-b72d-ff9377ac01bf" providerId="ADAL" clId="{133C2016-0089-4AFF-B7EF-FB7D92197C6A}" dt="2026-04-22T06:13:34.915" v="39" actId="20577"/>
          <ac:spMkLst>
            <pc:docMk/>
            <pc:sldMk cId="0" sldId="259"/>
            <ac:spMk id="6" creationId="{00000000-0000-0000-0000-000000000000}"/>
          </ac:spMkLst>
        </pc:spChg>
      </pc:sldChg>
      <pc:sldChg chg="modSp mod">
        <pc:chgData name="Viplove Bisen" userId="46f1591d-eef5-4397-b72d-ff9377ac01bf" providerId="ADAL" clId="{133C2016-0089-4AFF-B7EF-FB7D92197C6A}" dt="2026-04-22T06:16:08.215" v="69" actId="20577"/>
        <pc:sldMkLst>
          <pc:docMk/>
          <pc:sldMk cId="0" sldId="261"/>
        </pc:sldMkLst>
        <pc:spChg chg="mod">
          <ac:chgData name="Viplove Bisen" userId="46f1591d-eef5-4397-b72d-ff9377ac01bf" providerId="ADAL" clId="{133C2016-0089-4AFF-B7EF-FB7D92197C6A}" dt="2026-04-22T06:15:49.303" v="50" actId="20577"/>
          <ac:spMkLst>
            <pc:docMk/>
            <pc:sldMk cId="0" sldId="261"/>
            <ac:spMk id="8" creationId="{00000000-0000-0000-0000-000000000000}"/>
          </ac:spMkLst>
        </pc:spChg>
        <pc:spChg chg="mod">
          <ac:chgData name="Viplove Bisen" userId="46f1591d-eef5-4397-b72d-ff9377ac01bf" providerId="ADAL" clId="{133C2016-0089-4AFF-B7EF-FB7D92197C6A}" dt="2026-04-22T06:16:08.215" v="69" actId="20577"/>
          <ac:spMkLst>
            <pc:docMk/>
            <pc:sldMk cId="0" sldId="261"/>
            <ac:spMk id="10" creationId="{00000000-0000-0000-0000-000000000000}"/>
          </ac:spMkLst>
        </pc:spChg>
      </pc:sldChg>
      <pc:sldChg chg="modSp mod">
        <pc:chgData name="Viplove Bisen" userId="46f1591d-eef5-4397-b72d-ff9377ac01bf" providerId="ADAL" clId="{133C2016-0089-4AFF-B7EF-FB7D92197C6A}" dt="2026-04-22T06:17:36.504" v="70" actId="255"/>
        <pc:sldMkLst>
          <pc:docMk/>
          <pc:sldMk cId="0" sldId="263"/>
        </pc:sldMkLst>
        <pc:graphicFrameChg chg="modGraphic">
          <ac:chgData name="Viplove Bisen" userId="46f1591d-eef5-4397-b72d-ff9377ac01bf" providerId="ADAL" clId="{133C2016-0089-4AFF-B7EF-FB7D92197C6A}" dt="2026-04-22T06:17:36.504" v="70" actId="255"/>
          <ac:graphicFrameMkLst>
            <pc:docMk/>
            <pc:sldMk cId="0" sldId="263"/>
            <ac:graphicFrameMk id="5" creationId="{00000000-0000-0000-0000-000000000000}"/>
          </ac:graphicFrameMkLst>
        </pc:graphicFrameChg>
      </pc:sldChg>
      <pc:sldChg chg="delSp mod">
        <pc:chgData name="Viplove Bisen" userId="46f1591d-eef5-4397-b72d-ff9377ac01bf" providerId="ADAL" clId="{133C2016-0089-4AFF-B7EF-FB7D92197C6A}" dt="2026-04-22T06:18:32.250" v="72" actId="21"/>
        <pc:sldMkLst>
          <pc:docMk/>
          <pc:sldMk cId="0" sldId="264"/>
        </pc:sldMkLst>
        <pc:spChg chg="del">
          <ac:chgData name="Viplove Bisen" userId="46f1591d-eef5-4397-b72d-ff9377ac01bf" providerId="ADAL" clId="{133C2016-0089-4AFF-B7EF-FB7D92197C6A}" dt="2026-04-22T06:18:32.250" v="72" actId="21"/>
          <ac:spMkLst>
            <pc:docMk/>
            <pc:sldMk cId="0" sldId="264"/>
            <ac:spMk id="14" creationId="{00000000-0000-0000-0000-000000000000}"/>
          </ac:spMkLst>
        </pc:spChg>
        <pc:spChg chg="del">
          <ac:chgData name="Viplove Bisen" userId="46f1591d-eef5-4397-b72d-ff9377ac01bf" providerId="ADAL" clId="{133C2016-0089-4AFF-B7EF-FB7D92197C6A}" dt="2026-04-22T06:18:32.250" v="72" actId="21"/>
          <ac:spMkLst>
            <pc:docMk/>
            <pc:sldMk cId="0" sldId="264"/>
            <ac:spMk id="15" creationId="{00000000-0000-0000-0000-000000000000}"/>
          </ac:spMkLst>
        </pc:spChg>
        <pc:spChg chg="del">
          <ac:chgData name="Viplove Bisen" userId="46f1591d-eef5-4397-b72d-ff9377ac01bf" providerId="ADAL" clId="{133C2016-0089-4AFF-B7EF-FB7D92197C6A}" dt="2026-04-22T06:18:32.250" v="72" actId="21"/>
          <ac:spMkLst>
            <pc:docMk/>
            <pc:sldMk cId="0" sldId="264"/>
            <ac:spMk id="16" creationId="{00000000-0000-0000-0000-000000000000}"/>
          </ac:spMkLst>
        </pc:spChg>
        <pc:spChg chg="del">
          <ac:chgData name="Viplove Bisen" userId="46f1591d-eef5-4397-b72d-ff9377ac01bf" providerId="ADAL" clId="{133C2016-0089-4AFF-B7EF-FB7D92197C6A}" dt="2026-04-22T06:18:32.250" v="72" actId="21"/>
          <ac:spMkLst>
            <pc:docMk/>
            <pc:sldMk cId="0" sldId="264"/>
            <ac:spMk id="17" creationId="{00000000-0000-0000-0000-000000000000}"/>
          </ac:spMkLst>
        </pc:spChg>
        <pc:spChg chg="del">
          <ac:chgData name="Viplove Bisen" userId="46f1591d-eef5-4397-b72d-ff9377ac01bf" providerId="ADAL" clId="{133C2016-0089-4AFF-B7EF-FB7D92197C6A}" dt="2026-04-22T06:18:32.250" v="72" actId="21"/>
          <ac:spMkLst>
            <pc:docMk/>
            <pc:sldMk cId="0" sldId="264"/>
            <ac:spMk id="18" creationId="{00000000-0000-0000-0000-000000000000}"/>
          </ac:spMkLst>
        </pc:spChg>
        <pc:spChg chg="del">
          <ac:chgData name="Viplove Bisen" userId="46f1591d-eef5-4397-b72d-ff9377ac01bf" providerId="ADAL" clId="{133C2016-0089-4AFF-B7EF-FB7D92197C6A}" dt="2026-04-22T06:18:32.250" v="72" actId="21"/>
          <ac:spMkLst>
            <pc:docMk/>
            <pc:sldMk cId="0" sldId="264"/>
            <ac:spMk id="19" creationId="{00000000-0000-0000-0000-000000000000}"/>
          </ac:spMkLst>
        </pc:spChg>
        <pc:spChg chg="del">
          <ac:chgData name="Viplove Bisen" userId="46f1591d-eef5-4397-b72d-ff9377ac01bf" providerId="ADAL" clId="{133C2016-0089-4AFF-B7EF-FB7D92197C6A}" dt="2026-04-22T06:18:32.250" v="72" actId="21"/>
          <ac:spMkLst>
            <pc:docMk/>
            <pc:sldMk cId="0" sldId="264"/>
            <ac:spMk id="20" creationId="{00000000-0000-0000-0000-000000000000}"/>
          </ac:spMkLst>
        </pc:spChg>
        <pc:spChg chg="del">
          <ac:chgData name="Viplove Bisen" userId="46f1591d-eef5-4397-b72d-ff9377ac01bf" providerId="ADAL" clId="{133C2016-0089-4AFF-B7EF-FB7D92197C6A}" dt="2026-04-22T06:18:32.250" v="72" actId="21"/>
          <ac:spMkLst>
            <pc:docMk/>
            <pc:sldMk cId="0" sldId="264"/>
            <ac:spMk id="21" creationId="{00000000-0000-0000-0000-000000000000}"/>
          </ac:spMkLst>
        </pc:spChg>
      </pc:sldChg>
      <pc:sldChg chg="modSp mod">
        <pc:chgData name="Viplove Bisen" userId="46f1591d-eef5-4397-b72d-ff9377ac01bf" providerId="ADAL" clId="{133C2016-0089-4AFF-B7EF-FB7D92197C6A}" dt="2026-04-22T06:24:42.442" v="170" actId="20577"/>
        <pc:sldMkLst>
          <pc:docMk/>
          <pc:sldMk cId="0" sldId="265"/>
        </pc:sldMkLst>
        <pc:spChg chg="mod">
          <ac:chgData name="Viplove Bisen" userId="46f1591d-eef5-4397-b72d-ff9377ac01bf" providerId="ADAL" clId="{133C2016-0089-4AFF-B7EF-FB7D92197C6A}" dt="2026-04-22T06:24:42.442" v="170" actId="20577"/>
          <ac:spMkLst>
            <pc:docMk/>
            <pc:sldMk cId="0" sldId="265"/>
            <ac:spMk id="17" creationId="{00000000-0000-0000-0000-000000000000}"/>
          </ac:spMkLst>
        </pc:spChg>
      </pc:sldChg>
      <pc:sldChg chg="modSp mod">
        <pc:chgData name="Viplove Bisen" userId="46f1591d-eef5-4397-b72d-ff9377ac01bf" providerId="ADAL" clId="{133C2016-0089-4AFF-B7EF-FB7D92197C6A}" dt="2026-04-22T06:12:53.080" v="17" actId="20577"/>
        <pc:sldMkLst>
          <pc:docMk/>
          <pc:sldMk cId="0" sldId="266"/>
        </pc:sldMkLst>
        <pc:spChg chg="mod">
          <ac:chgData name="Viplove Bisen" userId="46f1591d-eef5-4397-b72d-ff9377ac01bf" providerId="ADAL" clId="{133C2016-0089-4AFF-B7EF-FB7D92197C6A}" dt="2026-04-22T06:12:53.080" v="17" actId="20577"/>
          <ac:spMkLst>
            <pc:docMk/>
            <pc:sldMk cId="0" sldId="266"/>
            <ac:spMk id="17" creationId="{00000000-0000-0000-0000-000000000000}"/>
          </ac:spMkLst>
        </pc:spChg>
      </pc:sldChg>
      <pc:sldChg chg="addSp modSp new mod">
        <pc:chgData name="Viplove Bisen" userId="46f1591d-eef5-4397-b72d-ff9377ac01bf" providerId="ADAL" clId="{133C2016-0089-4AFF-B7EF-FB7D92197C6A}" dt="2026-04-22T06:15:34.030" v="49" actId="14100"/>
        <pc:sldMkLst>
          <pc:docMk/>
          <pc:sldMk cId="3451567692" sldId="267"/>
        </pc:sldMkLst>
        <pc:picChg chg="add mod">
          <ac:chgData name="Viplove Bisen" userId="46f1591d-eef5-4397-b72d-ff9377ac01bf" providerId="ADAL" clId="{133C2016-0089-4AFF-B7EF-FB7D92197C6A}" dt="2026-04-22T06:15:34.030" v="49" actId="14100"/>
          <ac:picMkLst>
            <pc:docMk/>
            <pc:sldMk cId="3451567692" sldId="267"/>
            <ac:picMk id="3" creationId="{30D1B31C-4B84-B454-DD19-C33C0F25CF00}"/>
          </ac:picMkLst>
        </pc:picChg>
      </pc:sldChg>
      <pc:sldChg chg="addSp delSp modSp new mod">
        <pc:chgData name="Viplove Bisen" userId="46f1591d-eef5-4397-b72d-ff9377ac01bf" providerId="ADAL" clId="{133C2016-0089-4AFF-B7EF-FB7D92197C6A}" dt="2026-04-22T06:24:17.357" v="166" actId="1076"/>
        <pc:sldMkLst>
          <pc:docMk/>
          <pc:sldMk cId="2051443410" sldId="268"/>
        </pc:sldMkLst>
        <pc:spChg chg="add mod">
          <ac:chgData name="Viplove Bisen" userId="46f1591d-eef5-4397-b72d-ff9377ac01bf" providerId="ADAL" clId="{133C2016-0089-4AFF-B7EF-FB7D92197C6A}" dt="2026-04-22T06:23:55.230" v="160" actId="1076"/>
          <ac:spMkLst>
            <pc:docMk/>
            <pc:sldMk cId="2051443410" sldId="268"/>
            <ac:spMk id="14" creationId="{00000000-0000-0000-0000-000000000000}"/>
          </ac:spMkLst>
        </pc:spChg>
        <pc:spChg chg="add mod">
          <ac:chgData name="Viplove Bisen" userId="46f1591d-eef5-4397-b72d-ff9377ac01bf" providerId="ADAL" clId="{133C2016-0089-4AFF-B7EF-FB7D92197C6A}" dt="2026-04-22T06:24:03.645" v="162" actId="1076"/>
          <ac:spMkLst>
            <pc:docMk/>
            <pc:sldMk cId="2051443410" sldId="268"/>
            <ac:spMk id="15" creationId="{00000000-0000-0000-0000-000000000000}"/>
          </ac:spMkLst>
        </pc:spChg>
        <pc:spChg chg="add mod">
          <ac:chgData name="Viplove Bisen" userId="46f1591d-eef5-4397-b72d-ff9377ac01bf" providerId="ADAL" clId="{133C2016-0089-4AFF-B7EF-FB7D92197C6A}" dt="2026-04-22T06:24:09.254" v="164" actId="1076"/>
          <ac:spMkLst>
            <pc:docMk/>
            <pc:sldMk cId="2051443410" sldId="268"/>
            <ac:spMk id="16" creationId="{00000000-0000-0000-0000-000000000000}"/>
          </ac:spMkLst>
        </pc:spChg>
        <pc:spChg chg="add mod">
          <ac:chgData name="Viplove Bisen" userId="46f1591d-eef5-4397-b72d-ff9377ac01bf" providerId="ADAL" clId="{133C2016-0089-4AFF-B7EF-FB7D92197C6A}" dt="2026-04-22T06:23:58.171" v="161" actId="1076"/>
          <ac:spMkLst>
            <pc:docMk/>
            <pc:sldMk cId="2051443410" sldId="268"/>
            <ac:spMk id="17" creationId="{00000000-0000-0000-0000-000000000000}"/>
          </ac:spMkLst>
        </pc:spChg>
        <pc:spChg chg="add mod">
          <ac:chgData name="Viplove Bisen" userId="46f1591d-eef5-4397-b72d-ff9377ac01bf" providerId="ADAL" clId="{133C2016-0089-4AFF-B7EF-FB7D92197C6A}" dt="2026-04-22T06:24:06.772" v="163" actId="1076"/>
          <ac:spMkLst>
            <pc:docMk/>
            <pc:sldMk cId="2051443410" sldId="268"/>
            <ac:spMk id="18" creationId="{00000000-0000-0000-0000-000000000000}"/>
          </ac:spMkLst>
        </pc:spChg>
        <pc:spChg chg="add mod">
          <ac:chgData name="Viplove Bisen" userId="46f1591d-eef5-4397-b72d-ff9377ac01bf" providerId="ADAL" clId="{133C2016-0089-4AFF-B7EF-FB7D92197C6A}" dt="2026-04-22T06:24:12.101" v="165" actId="1076"/>
          <ac:spMkLst>
            <pc:docMk/>
            <pc:sldMk cId="2051443410" sldId="268"/>
            <ac:spMk id="19" creationId="{00000000-0000-0000-0000-000000000000}"/>
          </ac:spMkLst>
        </pc:spChg>
        <pc:spChg chg="add del mod">
          <ac:chgData name="Viplove Bisen" userId="46f1591d-eef5-4397-b72d-ff9377ac01bf" providerId="ADAL" clId="{133C2016-0089-4AFF-B7EF-FB7D92197C6A}" dt="2026-04-22T06:19:03.643" v="77" actId="478"/>
          <ac:spMkLst>
            <pc:docMk/>
            <pc:sldMk cId="2051443410" sldId="268"/>
            <ac:spMk id="20" creationId="{00000000-0000-0000-0000-000000000000}"/>
          </ac:spMkLst>
        </pc:spChg>
        <pc:spChg chg="add mod">
          <ac:chgData name="Viplove Bisen" userId="46f1591d-eef5-4397-b72d-ff9377ac01bf" providerId="ADAL" clId="{133C2016-0089-4AFF-B7EF-FB7D92197C6A}" dt="2026-04-22T06:24:17.357" v="166" actId="1076"/>
          <ac:spMkLst>
            <pc:docMk/>
            <pc:sldMk cId="2051443410" sldId="268"/>
            <ac:spMk id="21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7863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F2937"/>
                </a:solidFill>
              </a:defRPr>
            </a:pPr>
            <a:r>
              <a:t>BOA Jarvis to LeanFT JavaScript Migration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719072"/>
            <a:ext cx="7589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</a:defRPr>
            </a:pPr>
            <a:r>
              <a:t>Modernizing UFT VBScript mainframe automation to a VS Code, Jasmine, and LeanFT engineering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950976"/>
            <a:ext cx="3383280" cy="1920240"/>
          </a:xfrm>
          <a:prstGeom prst="roundRect">
            <a:avLst/>
          </a:prstGeom>
          <a:solidFill>
            <a:srgbClr val="FFEDD5"/>
          </a:solidFill>
          <a:ln>
            <a:solidFill>
              <a:srgbClr val="F265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66760" y="114300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59250C"/>
                </a:solidFill>
              </a:defRPr>
            </a:pPr>
            <a:r>
              <a:t>Presentation objective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1554480"/>
            <a:ext cx="2834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Preserve the layered Jarvis design</a:t>
            </a:r>
          </a:p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Modernize language, tooling, and CI/CD</a:t>
            </a:r>
          </a:p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Show a practical migration factory approach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926080"/>
            <a:ext cx="3337560" cy="1828800"/>
          </a:xfrm>
          <a:prstGeom prst="roundRect">
            <a:avLst/>
          </a:prstGeom>
          <a:solidFill>
            <a:srgbClr val="DBEAF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999232"/>
            <a:ext cx="3063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E40AF"/>
                </a:solidFill>
              </a:defRPr>
            </a:pPr>
            <a:r>
              <a:t>What this POC proves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73552"/>
            <a:ext cx="306324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LeanFT JavaScript can drive TN3270 through an existing HLLAPI-capable emulator.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Jarvis concepts map cleanly into driver, keyword, object repository, data, config, and reporting layers.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2926080"/>
            <a:ext cx="3337560" cy="1828800"/>
          </a:xfrm>
          <a:prstGeom prst="roundRect">
            <a:avLst/>
          </a:prstGeom>
          <a:solidFill>
            <a:srgbClr val="DCFCE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97680" y="2999232"/>
            <a:ext cx="3063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66534"/>
                </a:solidFill>
              </a:defRPr>
            </a:pPr>
            <a:r>
              <a:t>POC flows in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3273552"/>
            <a:ext cx="306324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Login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Account Inquiry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Funds Transfer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Jenkins execution across SIT and UAT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2926080"/>
            <a:ext cx="3566160" cy="1828800"/>
          </a:xfrm>
          <a:prstGeom prst="roundRect">
            <a:avLst/>
          </a:prstGeom>
          <a:solidFill>
            <a:srgbClr val="FEF9C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0" y="2999232"/>
            <a:ext cx="3291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B45309"/>
                </a:solidFill>
              </a:defRPr>
            </a:pPr>
            <a:r>
              <a:t>Evidence used for this deck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273552"/>
            <a:ext cx="329184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Architecture docs in docs/01 and docs/02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Framework context files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Actual runner.js, terminalHelper.js, screens.js, and Jasmine spec implementation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21208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</a:defRPr>
            </a:pPr>
            <a:r>
              <a:t>Prepared on 22 Apr 2026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10528"/>
            <a:ext cx="12191695" cy="54864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655624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Ascendion | BOA Jarvis to LeanFT JavaScript Migration Plan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537960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8778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Executive 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097280"/>
            <a:ext cx="1051560" cy="109728"/>
          </a:xfrm>
          <a:prstGeom prst="round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The migration does not require rethinking the testing model. It modernizes the implementation stack and delivery flow.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3657600" cy="1554480"/>
          </a:xfrm>
          <a:prstGeom prst="roundRect">
            <a:avLst/>
          </a:prstGeom>
          <a:solidFill>
            <a:srgbClr val="FEE2E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810512"/>
            <a:ext cx="3383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</a:defRPr>
            </a:pPr>
            <a:r>
              <a:t>Current-state constraint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84832"/>
            <a:ext cx="338328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Jarvis depends on VBScript, UFT artifacts, XML flows, and binary object repository assets that are harder to diff, review, and scale.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737360"/>
            <a:ext cx="3657600" cy="1554480"/>
          </a:xfrm>
          <a:prstGeom prst="roundRect">
            <a:avLst/>
          </a:prstGeom>
          <a:solidFill>
            <a:srgbClr val="DBEAF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63440" y="1810512"/>
            <a:ext cx="3383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E40AF"/>
                </a:solidFill>
              </a:defRPr>
            </a:pPr>
            <a:r>
              <a:t>Target-state shift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084832"/>
            <a:ext cx="338328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The new framework keeps the same layered design but uses LeanFT JavaScript, Jasmine, plain-text screen definitions, JSON or Excel-backed test data, and Jenkins-ready execution.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1737360"/>
            <a:ext cx="3154680" cy="1554480"/>
          </a:xfrm>
          <a:prstGeom prst="roundRect">
            <a:avLst/>
          </a:prstGeom>
          <a:solidFill>
            <a:srgbClr val="DCFCE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49640" y="1810512"/>
            <a:ext cx="2880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66534"/>
                </a:solidFill>
              </a:defRPr>
            </a:pPr>
            <a:r>
              <a:t>Business outcome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2084832"/>
            <a:ext cx="288036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Faster onboarding, cleaner Git visibility, better IDE support, and an AI-assisted migration pattern.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657600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</a:defRPr>
            </a:pPr>
            <a:r>
              <a:t>What remains familiar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977639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Layered automation design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Keyword-driven mainframe interactions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Central object repository and external configuration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Data-driven execution and Jenkins orchestration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657600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</a:defRPr>
            </a:pPr>
            <a:r>
              <a:t>What improves materially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977639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VBScript to modern JavaScript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Binary assets to plain-text source-controlled files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UFT-centric authoring to VS Code + GitHub Copilot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Manual migration effort reduced by a deterministic BOA migration agent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10528"/>
            <a:ext cx="12191695" cy="54864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655624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Ascendion | BOA Jarvis to LeanFT JavaScript Migration Plan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537960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8778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Current State Architecture: Jarvis / UFT / VBScript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097280"/>
            <a:ext cx="1051560" cy="109728"/>
          </a:xfrm>
          <a:prstGeom prst="round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42742" y="1304597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The current model is modular, but several layers are implemented with older and more opaque technologies.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743200" cy="1051560"/>
          </a:xfrm>
          <a:prstGeom prst="roundRect">
            <a:avLst/>
          </a:prstGeom>
          <a:solidFill>
            <a:srgbClr val="FEF9C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901952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Test Suite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76272"/>
            <a:ext cx="246888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Spreadsheet-driven suite definitions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Execution entry point for business scenarios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828800"/>
            <a:ext cx="2743200" cy="1051560"/>
          </a:xfrm>
          <a:prstGeom prst="roundRect">
            <a:avLst/>
          </a:prstGeom>
          <a:solidFill>
            <a:srgbClr val="FEF9C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97680" y="1901952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Test Flows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176272"/>
            <a:ext cx="246888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XML flow orchestration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Externalized step sequencing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1828800"/>
            <a:ext cx="2743200" cy="1051560"/>
          </a:xfrm>
          <a:prstGeom prst="roundRect">
            <a:avLst/>
          </a:prstGeom>
          <a:solidFill>
            <a:srgbClr val="FEF9C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26680" y="1901952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Test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80" y="2176272"/>
            <a:ext cx="246888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Spreadsheet-based data sets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Separate from scripts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383280"/>
            <a:ext cx="2743200" cy="1051560"/>
          </a:xfrm>
          <a:prstGeom prst="roundRect">
            <a:avLst/>
          </a:prstGeom>
          <a:solidFill>
            <a:srgbClr val="FEE2E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3456432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Execution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730752"/>
            <a:ext cx="246888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Jarvis / UFT driver-runner model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Scenario coordination and playback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60520" y="3383280"/>
            <a:ext cx="2743200" cy="1051560"/>
          </a:xfrm>
          <a:prstGeom prst="roundRect">
            <a:avLst/>
          </a:prstGeom>
          <a:solidFill>
            <a:srgbClr val="FEE2E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97680" y="3456432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Libraries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3730752"/>
            <a:ext cx="246888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.qfl VBScript keyword libraries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Reusable screen actions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0" y="3383280"/>
            <a:ext cx="2743200" cy="1051560"/>
          </a:xfrm>
          <a:prstGeom prst="roundRect">
            <a:avLst/>
          </a:prstGeom>
          <a:solidFill>
            <a:srgbClr val="FEE2E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26680" y="3456432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Object Repository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80" y="3730752"/>
            <a:ext cx="246888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UFT .tsr or .mtr assets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Binary-style repository management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937760"/>
            <a:ext cx="2743200" cy="1051560"/>
          </a:xfrm>
          <a:prstGeom prst="roundRect">
            <a:avLst/>
          </a:prstGeom>
          <a:solidFill>
            <a:srgbClr val="F1F5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5010912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Configuration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285232"/>
            <a:ext cx="246888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Config templates and runtime settings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60520" y="4937760"/>
            <a:ext cx="2743200" cy="1051560"/>
          </a:xfrm>
          <a:prstGeom prst="roundRect">
            <a:avLst/>
          </a:prstGeom>
          <a:solidFill>
            <a:srgbClr val="F1F5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297680" y="5010912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Reporting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5285232"/>
            <a:ext cx="246888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UFT HTML reports and zipped results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89520" y="4937760"/>
            <a:ext cx="2743200" cy="1051560"/>
          </a:xfrm>
          <a:prstGeom prst="roundRect">
            <a:avLst/>
          </a:prstGeom>
          <a:solidFill>
            <a:srgbClr val="F1F5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726680" y="5010912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CI/CD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26680" y="5285232"/>
            <a:ext cx="246888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Jenkins integration present, but framework tooling remains UFT-centric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362895" y="1042889"/>
            <a:ext cx="1691640" cy="502920"/>
          </a:xfrm>
          <a:prstGeom prst="round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477658" y="1130861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/>
              <a:t>Pain points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62895" y="1868530"/>
            <a:ext cx="1828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rPr dirty="0"/>
              <a:t>VBScript deprecation risk</a:t>
            </a:r>
          </a:p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rPr dirty="0"/>
              <a:t>Harder Git diff and code review experience</a:t>
            </a:r>
          </a:p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rPr dirty="0"/>
              <a:t>Less developer-friendly tooling</a:t>
            </a:r>
          </a:p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rPr dirty="0"/>
              <a:t>Manual migration of legacy assets is slower without structured accelerators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10528"/>
            <a:ext cx="12191695" cy="54864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11480" y="655624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Ascendion | BOA Jarvis to LeanFT JavaScript Migration Plan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0" y="6537960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8778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Migration Mapping: Jarvis Components to the New Framework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097280"/>
            <a:ext cx="1051560" cy="109728"/>
          </a:xfrm>
          <a:prstGeom prst="round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The POC preserves the business testing intent while swapping each legacy layer for a modern equivalent.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45920"/>
          <a:ext cx="111556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2937"/>
                          </a:solidFill>
                        </a:defRPr>
                      </a:pPr>
                      <a:r>
                        <a:t>Jarvis component</a:t>
                      </a:r>
                    </a:p>
                  </a:txBody>
                  <a:tcPr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2937"/>
                          </a:solidFill>
                        </a:defRPr>
                      </a:pPr>
                      <a:r>
                        <a:t>Current technology</a:t>
                      </a:r>
                    </a:p>
                  </a:txBody>
                  <a:tcPr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2937"/>
                          </a:solidFill>
                        </a:defRPr>
                      </a:pPr>
                      <a:r>
                        <a:t>Target component</a:t>
                      </a:r>
                    </a:p>
                  </a:txBody>
                  <a:tcPr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2937"/>
                          </a:solidFill>
                        </a:defRPr>
                      </a:pPr>
                      <a:r>
                        <a:t>Target technology</a:t>
                      </a:r>
                    </a:p>
                  </a:txBody>
                  <a:tcPr>
                    <a:solidFill>
                      <a:srgbClr val="FFED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Test Suite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Excel spreadsheet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spec/ftdtest_jasmine_spec.js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Jasmine JavaScript spec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Test Flow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XML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describe / it blocks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Native JavaScript structure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Test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Excel spreadsheet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testdata JSON + xlsx support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JSON or Excel via Node.js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Execution Engine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UFT proprietary runner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driver/runner.js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LeanFT SDK lifecycle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Libraries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.qfl VBScript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libraries/terminalHelper.js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Reusable JS keywords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Object Repository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UFT .tsr / .mtr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objectrepository/screens.js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Plain-text screen metadata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Configuration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Config templates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config/settings.js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Node module + env vars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Reporting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UFT report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results/ LeanFT report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HTML report with snapshots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CI/CD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Jenkinsfile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Jenkinsfile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Parameterized SIT / UAT execution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144768"/>
            <a:ext cx="109728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59250C"/>
                </a:solidFill>
              </a:defRPr>
            </a:pPr>
            <a:r>
              <a:rPr lang="en-US" dirty="0"/>
              <a:t>T</a:t>
            </a:r>
            <a:r>
              <a:rPr dirty="0"/>
              <a:t>his is a migration with continuity, not a rewrite with loss of control.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54864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655624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Ascendion | BOA Jarvis to LeanFT JavaScript Migration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37960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8778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Target Architecture: LeanFT JavaScript Framework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097280"/>
            <a:ext cx="1051560" cy="109728"/>
          </a:xfrm>
          <a:prstGeom prst="round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The implementation already present in the POC follows a modern, reviewable, and modular structure.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423160" cy="1143000"/>
          </a:xfrm>
          <a:prstGeom prst="roundRect">
            <a:avLst/>
          </a:prstGeom>
          <a:solidFill>
            <a:srgbClr val="DBEAF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901952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Test Suite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76272"/>
            <a:ext cx="21488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Jasmine spec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Business scenarios and assertions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1828800"/>
            <a:ext cx="2423160" cy="1143000"/>
          </a:xfrm>
          <a:prstGeom prst="roundRect">
            <a:avLst/>
          </a:prstGeom>
          <a:solidFill>
            <a:srgbClr val="FFEDD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49040" y="1901952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Driver / Runner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0" y="2176272"/>
            <a:ext cx="21488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LeanFT init / cleanup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Shared TE session lifecycle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828800"/>
            <a:ext cx="2423160" cy="1143000"/>
          </a:xfrm>
          <a:prstGeom prst="roundRect">
            <a:avLst/>
          </a:prstGeom>
          <a:solidFill>
            <a:srgbClr val="DCFCE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29400" y="1901952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Action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176272"/>
            <a:ext cx="21488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terminalHelper.js keywords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Mainframe business actions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72600" y="1828800"/>
            <a:ext cx="2423160" cy="1143000"/>
          </a:xfrm>
          <a:prstGeom prst="roundRect">
            <a:avLst/>
          </a:prstGeom>
          <a:solidFill>
            <a:srgbClr val="FEF9C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509760" y="1901952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Object Repository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0" y="2176272"/>
            <a:ext cx="21488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screens.js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Identifiers, fields, and key maps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703320"/>
            <a:ext cx="2423160" cy="1143000"/>
          </a:xfrm>
          <a:prstGeom prst="roundRect">
            <a:avLst/>
          </a:prstGeom>
          <a:solidFill>
            <a:srgbClr val="F1F5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3776472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Test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50792"/>
            <a:ext cx="21488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JSON default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Excel support via xlsx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11880" y="3703320"/>
            <a:ext cx="2423160" cy="1143000"/>
          </a:xfrm>
          <a:prstGeom prst="roundRect">
            <a:avLst/>
          </a:prstGeom>
          <a:solidFill>
            <a:srgbClr val="F1F5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749040" y="3776472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Configuration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40" y="4050792"/>
            <a:ext cx="21488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settings.js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TE short name, env, timeouts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3703320"/>
            <a:ext cx="2423160" cy="1143000"/>
          </a:xfrm>
          <a:prstGeom prst="roundRect">
            <a:avLst/>
          </a:prstGeom>
          <a:solidFill>
            <a:srgbClr val="F1F5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29400" y="3776472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Reporting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4050792"/>
            <a:ext cx="21488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LeanFT HTML report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Snapshots and pass/fail logging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72600" y="3703320"/>
            <a:ext cx="2423160" cy="1143000"/>
          </a:xfrm>
          <a:prstGeom prst="roundRect">
            <a:avLst/>
          </a:prstGeom>
          <a:solidFill>
            <a:srgbClr val="F1F5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509760" y="3776472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CI/CD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4050792"/>
            <a:ext cx="214884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Jenkins SIT / UAT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Filterable suite execution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80" y="5303520"/>
            <a:ext cx="4480560" cy="713232"/>
          </a:xfrm>
          <a:prstGeom prst="roundRect">
            <a:avLst/>
          </a:prstGeom>
          <a:solidFill>
            <a:srgbClr val="E2E8F0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069080" y="5468112"/>
            <a:ext cx="4023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1F2937"/>
                </a:solidFill>
              </a:defRPr>
            </a:pPr>
            <a:r>
              <a:t>IBM Mainframe through an existing HLLAPI-capable terminal emulator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828032" y="2980944"/>
            <a:ext cx="0" cy="630936"/>
          </a:xfrm>
          <a:prstGeom prst="line">
            <a:avLst/>
          </a:prstGeom>
          <a:ln w="190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708392" y="2980944"/>
            <a:ext cx="0" cy="630936"/>
          </a:xfrm>
          <a:prstGeom prst="line">
            <a:avLst/>
          </a:prstGeom>
          <a:ln w="190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708392" y="4846320"/>
            <a:ext cx="0" cy="457200"/>
          </a:xfrm>
          <a:prstGeom prst="line">
            <a:avLst/>
          </a:prstGeom>
          <a:ln w="190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49808" y="612648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Important architecture note: LeanFT does not open TN3270 directly; it automates an already-running emulator session via HLLAPI.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10528"/>
            <a:ext cx="12191695" cy="54864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11480" y="655624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Ascendion | BOA Jarvis to LeanFT JavaScript Migration Plan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0" y="6537960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D1B31C-4B84-B454-DD19-C33C0F25CF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5676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8778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Why This Framework Is Better for Delivery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097280"/>
            <a:ext cx="1051560" cy="109728"/>
          </a:xfrm>
          <a:prstGeom prst="round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The technical modernization is paired with a better authoring and migration experience for the QE team.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F2937"/>
                </a:solidFill>
              </a:defRPr>
            </a:pPr>
            <a:r>
              <a:t>Engineering benefits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48463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JavaScript is closer to VBScript than Java or C#, which reduces training friction.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VS Code provides a lightweight and familiar IDE with Git-native workflows.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Plain-text repository assets are easier to review, diff, branch, and promote.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Jasmine plus npm gives a simple, CI-friendly execution model.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JSON-first test data can still coexist with Excel input when needed.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783080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F2937"/>
                </a:solidFill>
              </a:defRPr>
            </a:pPr>
            <a:r>
              <a:t>Acceleration benefits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4846320" cy="2375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rPr dirty="0"/>
              <a:t>GitHub Copilot can assist with routine coding, refactoring, and test authoring inside VS Code.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rPr dirty="0"/>
              <a:t>The repo includes a BOA migration agent that reads project context, maps VBScript constructs, generates Jasmine skeletons, and flags only the steps that need manual intervention.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rPr dirty="0"/>
              <a:t>The agent provides a migration delta report, giving traceability from automated translation to remaining manual work.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669280"/>
            <a:ext cx="10607040" cy="658368"/>
          </a:xfrm>
          <a:prstGeom prst="roundRect">
            <a:avLst/>
          </a:prstGeom>
          <a:solidFill>
            <a:srgbClr val="FFEDD5"/>
          </a:solidFill>
          <a:ln>
            <a:solidFill>
              <a:srgbClr val="F265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5852160"/>
            <a:ext cx="1005840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59250C"/>
                </a:solidFill>
              </a:defRPr>
            </a:pPr>
            <a:r>
              <a:rPr lang="en-US" dirty="0"/>
              <a:t>T</a:t>
            </a:r>
            <a:r>
              <a:rPr dirty="0"/>
              <a:t>he target stack improves both automation maintainability and migration throughput.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10528"/>
            <a:ext cx="12191695" cy="54864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655624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Ascendion | BOA Jarvis to LeanFT JavaScript Migration 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537960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8778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Suggested Migration Approach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097280"/>
            <a:ext cx="1051560" cy="109728"/>
          </a:xfrm>
          <a:prstGeom prst="round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A factory model is safer than a big-bang conversion. The POC and BOA migration agent support this sequence.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1737360" cy="2011680"/>
          </a:xfrm>
          <a:prstGeom prst="roundRect">
            <a:avLst/>
          </a:prstGeom>
          <a:solidFill>
            <a:srgbClr val="DBEAF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901952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1. Assess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76272"/>
            <a:ext cx="146304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Inventory current suites, libraries, flows, data, and object repository dependencies.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32888" y="1828800"/>
            <a:ext cx="1737360" cy="2011680"/>
          </a:xfrm>
          <a:prstGeom prst="roundRect">
            <a:avLst/>
          </a:prstGeom>
          <a:solidFill>
            <a:srgbClr val="FFEDD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670048" y="1901952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2. 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70048" y="2176272"/>
            <a:ext cx="146304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Map Jarvis constructs to the LeanFT JavaScript framework and identify manual-only gaps.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9976" y="1828800"/>
            <a:ext cx="1737360" cy="2011680"/>
          </a:xfrm>
          <a:prstGeom prst="roundRect">
            <a:avLst/>
          </a:prstGeom>
          <a:solidFill>
            <a:srgbClr val="DCFCE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17136" y="1901952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3. Baseline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7136" y="2176272"/>
            <a:ext cx="146304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Stabilize target framework layers, CI settings, reporting, and environment conventions.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7064" y="1828800"/>
            <a:ext cx="1737360" cy="2011680"/>
          </a:xfrm>
          <a:prstGeom prst="roundRect">
            <a:avLst/>
          </a:prstGeom>
          <a:solidFill>
            <a:srgbClr val="DBEAF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64224" y="1901952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4. 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2176272"/>
            <a:ext cx="146304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Migrate representative high-value flows such as login, account inquiry, and funds transfer.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74152" y="1828800"/>
            <a:ext cx="1737360" cy="2011680"/>
          </a:xfrm>
          <a:prstGeom prst="roundRect">
            <a:avLst/>
          </a:prstGeom>
          <a:solidFill>
            <a:srgbClr val="FFEDD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11312" y="1901952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5. Industrialize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1312" y="2176272"/>
            <a:ext cx="146304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Use Copilot and the migration agent to accelerate repetitive conversions with guardrails.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921240" y="1828800"/>
            <a:ext cx="1737360" cy="2011680"/>
          </a:xfrm>
          <a:prstGeom prst="roundRect">
            <a:avLst/>
          </a:prstGeom>
          <a:solidFill>
            <a:srgbClr val="DCFCE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0" y="1901952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6. Scale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2176272"/>
            <a:ext cx="146304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Expand by application area, validate SIT and UAT behavior, and retire legacy suites in waves.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425196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</a:defRPr>
            </a:pPr>
            <a:r>
              <a:t>How the accelerator helps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4526280"/>
            <a:ext cx="5669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Loads framework and migration context before translation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Maps known VBScript and UFT constructs deterministically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Creates skeletons, keyword translations, and a migration delta report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251960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</a:defRPr>
            </a:pPr>
            <a:r>
              <a:t>Operating principle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52628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Automate the known mappings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Flag anything that requires live environment confirmation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Do not guess locators, credentials, or environment-specific identifiers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10528"/>
            <a:ext cx="12191695" cy="54864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11480" y="655624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Ascendion | BOA Jarvis to LeanFT JavaScript Migration Plan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0" y="6537960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8778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Migration Risks and How to Control Them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097280"/>
            <a:ext cx="1051560" cy="109728"/>
          </a:xfrm>
          <a:prstGeom prst="round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rPr dirty="0"/>
              <a:t>The main risks are known upfront and can be managed with the right pilot discipline.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2258744"/>
              </p:ext>
            </p:extLst>
          </p:nvPr>
        </p:nvGraphicFramePr>
        <p:xfrm>
          <a:off x="640080" y="178308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2937"/>
                          </a:solidFill>
                        </a:defRPr>
                      </a:pPr>
                      <a:r>
                        <a:t>Risk or dependency</a:t>
                      </a:r>
                    </a:p>
                  </a:txBody>
                  <a:tcPr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2937"/>
                          </a:solidFill>
                        </a:defRPr>
                      </a:pPr>
                      <a:r>
                        <a:t>Mitigation in the proposed plan</a:t>
                      </a:r>
                    </a:p>
                  </a:txBody>
                  <a:tcPr>
                    <a:solidFill>
                      <a:srgbClr val="FFED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rPr sz="1400" dirty="0"/>
                        <a:t>Screen locators must match live emulator labels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Capture and validate attachedText values using the LeanFT Object Identification Center; do not guess them in code.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rPr sz="1400" dirty="0"/>
                        <a:t>Screen identifiers can vary by environment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Validate identifiers in SIT and UAT during pilot onboarding and keep them centralized in screens.js.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rPr sz="1400" dirty="0"/>
                        <a:t>Credentials and sensitive data must not be embedded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Keep credentials out of specs and use managed external test data and environment configuration.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rPr sz="1400" dirty="0"/>
                        <a:t>Some custom Jarvis keywords may not have a direct map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Use the migration agent to flag keyword gaps and implement them once in terminalHelper.js for reuse.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Citrix or non-3270 surfaces may require separate treatment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rPr sz="1400"/>
                        <a:t>Keep the first migration wave focused on standard TN3270 automation; assess exceptional channels separately.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rPr sz="1400" dirty="0"/>
                        <a:t>Execution still depends on a running emulator session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</a:defRPr>
                      </a:pPr>
                      <a:r>
                        <a:rPr sz="1400" dirty="0"/>
                        <a:t>Document emulator setup, session short names, and Jenkins runtime configuration as part of environment readiness.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10528"/>
            <a:ext cx="12191695" cy="54864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655624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Ascendion | BOA Jarvis to LeanFT JavaScript Migration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37960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8778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Recommended Pilot and Next Steps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097280"/>
            <a:ext cx="1051560" cy="109728"/>
          </a:xfrm>
          <a:prstGeom prst="round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Use the current POC as the demonstration baseline, then move into a controlled pilot migration wave.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74720" cy="1965960"/>
          </a:xfrm>
          <a:prstGeom prst="roundRect">
            <a:avLst/>
          </a:prstGeom>
          <a:solidFill>
            <a:srgbClr val="DBEAF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901952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E40AF"/>
                </a:solidFill>
              </a:defRPr>
            </a:pPr>
            <a:r>
              <a:t>Pilot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76272"/>
            <a:ext cx="3200400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3 to 5 representative business flows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At least one login or navigation pattern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At least one inquiry flow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At least one transaction flow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SIT and UAT execution through Jenkins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828800"/>
            <a:ext cx="3474720" cy="1965960"/>
          </a:xfrm>
          <a:prstGeom prst="roundRect">
            <a:avLst/>
          </a:prstGeom>
          <a:solidFill>
            <a:srgbClr val="DCFCE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07992" y="1901952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66534"/>
                </a:solidFill>
              </a:defRPr>
            </a:pPr>
            <a:r>
              <a:t>Success criteria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7992" y="2176272"/>
            <a:ext cx="3200400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rPr dirty="0"/>
              <a:t>Functional parity with selected Jarvis flows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rPr dirty="0"/>
              <a:t>Stable object repository and environment settings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rPr dirty="0"/>
              <a:t>Repeatable CI execution and report publication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rPr dirty="0"/>
              <a:t>Measured reduction in migration effort for each additional script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1828800"/>
            <a:ext cx="3474720" cy="1965960"/>
          </a:xfrm>
          <a:prstGeom prst="roundRect">
            <a:avLst/>
          </a:prstGeom>
          <a:solidFill>
            <a:srgbClr val="FFEDD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47304" y="1901952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59250C"/>
                </a:solidFill>
              </a:defRPr>
            </a:pPr>
            <a:r>
              <a:t>Immediate next steps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47304" y="2176272"/>
            <a:ext cx="3200400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Confirm pilot scope and environments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Capture live locators for pilot screens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Prioritize Jarvis suites by reuse and business value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Define governance for AI-assisted migration review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10528"/>
            <a:ext cx="12191695" cy="54864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1480" y="655624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Ascendion | BOA Jarvis to LeanFT JavaScript Migration Plan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0" y="6537960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-4728" y="1091762"/>
            <a:ext cx="5349240" cy="4674476"/>
          </a:xfrm>
          <a:prstGeom prst="roundRect">
            <a:avLst/>
          </a:prstGeom>
          <a:solidFill>
            <a:srgbClr val="FEE2E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750516" y="1420992"/>
            <a:ext cx="5074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</a:defRPr>
            </a:pPr>
            <a:r>
              <a:rPr dirty="0"/>
              <a:t>What we need from Bank of America to continue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432" y="2471030"/>
            <a:ext cx="5074920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100">
                <a:solidFill>
                  <a:srgbClr val="1F2937"/>
                </a:solidFill>
              </a:defRPr>
            </a:pPr>
            <a:r>
              <a:rPr sz="1400" dirty="0"/>
              <a:t>Access to a BOA test environment with the actual mainframe application and representative user journeys.</a:t>
            </a:r>
            <a:endParaRPr lang="en-US" sz="1400" dirty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100">
                <a:solidFill>
                  <a:srgbClr val="1F2937"/>
                </a:solidFill>
              </a:defRPr>
            </a:pPr>
            <a:endParaRPr sz="1400" dirty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100">
                <a:solidFill>
                  <a:srgbClr val="1F2937"/>
                </a:solidFill>
              </a:defRPr>
            </a:pPr>
            <a:r>
              <a:rPr sz="1400" dirty="0"/>
              <a:t>One BOA-side SME, tester, or engineer working closely with us to validate screens, navigation, and expected results</a:t>
            </a:r>
            <a:r>
              <a:rPr lang="en-US" sz="1400" dirty="0"/>
              <a:t>. Once we are inside BOA network</a:t>
            </a:r>
            <a:r>
              <a:rPr sz="1400" dirty="0"/>
              <a:t>.</a:t>
            </a:r>
            <a:endParaRPr lang="en-US" sz="1400" dirty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100">
                <a:solidFill>
                  <a:srgbClr val="1F2937"/>
                </a:solidFill>
              </a:defRPr>
            </a:pPr>
            <a:endParaRPr sz="1400" dirty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100">
                <a:solidFill>
                  <a:srgbClr val="1F2937"/>
                </a:solidFill>
              </a:defRPr>
            </a:pPr>
            <a:r>
              <a:rPr sz="1400" dirty="0"/>
              <a:t>Support to configure the terminal emulator, session short names, host connectivity, and any environment-specific runtime settings.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6359" y="1091762"/>
            <a:ext cx="5029200" cy="4943751"/>
          </a:xfrm>
          <a:prstGeom prst="roundRect">
            <a:avLst/>
          </a:prstGeom>
          <a:solidFill>
            <a:srgbClr val="FEF9C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46757" y="1311953"/>
            <a:ext cx="4754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B45309"/>
                </a:solidFill>
              </a:defRPr>
            </a:pPr>
            <a:r>
              <a:rPr dirty="0"/>
              <a:t>Dependencies and open questions for next steps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0221" y="2493556"/>
            <a:ext cx="4754880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100">
                <a:solidFill>
                  <a:srgbClr val="1F2937"/>
                </a:solidFill>
              </a:defRPr>
            </a:pPr>
            <a:r>
              <a:rPr sz="1200" dirty="0"/>
              <a:t>Which BOA environments are available for SIT, UAT, or pilot execution?</a:t>
            </a:r>
            <a:endParaRPr lang="en-US" sz="1200" dirty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100">
                <a:solidFill>
                  <a:srgbClr val="1F2937"/>
                </a:solidFill>
              </a:defRPr>
            </a:pPr>
            <a:endParaRPr sz="1200" dirty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100">
                <a:solidFill>
                  <a:srgbClr val="1F2937"/>
                </a:solidFill>
              </a:defRPr>
            </a:pPr>
            <a:r>
              <a:rPr sz="1200" dirty="0"/>
              <a:t>What emulator, access controls, credentials handling, and network prerequisites are required?</a:t>
            </a:r>
            <a:endParaRPr lang="en-US" sz="1200" dirty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100">
                <a:solidFill>
                  <a:srgbClr val="1F2937"/>
                </a:solidFill>
              </a:defRPr>
            </a:pPr>
            <a:endParaRPr sz="1200" dirty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100">
                <a:solidFill>
                  <a:srgbClr val="1F2937"/>
                </a:solidFill>
              </a:defRPr>
            </a:pPr>
            <a:r>
              <a:rPr sz="1200" dirty="0"/>
              <a:t>Which flows, test data, and application variants should be the first migration wave?</a:t>
            </a:r>
            <a:endParaRPr lang="en-US" sz="1200" dirty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100">
                <a:solidFill>
                  <a:srgbClr val="1F2937"/>
                </a:solidFill>
              </a:defRPr>
            </a:pPr>
            <a:endParaRPr sz="1200" dirty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  <a:defRPr sz="1100">
                <a:solidFill>
                  <a:srgbClr val="1F2937"/>
                </a:solidFill>
              </a:defRPr>
            </a:pPr>
            <a:r>
              <a:rPr sz="1200" dirty="0"/>
              <a:t>Are there any BOA-specific dependencies such as Citrix, middleware hops, or security approvals we should plan for?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755" y="6121735"/>
            <a:ext cx="10047514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1">
                <a:solidFill>
                  <a:srgbClr val="59250C"/>
                </a:solidFill>
              </a:defRPr>
            </a:pPr>
            <a:r>
              <a:rPr lang="en-US" sz="1600" dirty="0"/>
              <a:t>T</a:t>
            </a:r>
            <a:r>
              <a:rPr sz="1600" dirty="0"/>
              <a:t>o move beyond the current POC, one of the team members should work with BOA in the real environment to complete setup, validate locators, and industrialize the migration path.</a:t>
            </a:r>
          </a:p>
        </p:txBody>
      </p:sp>
    </p:spTree>
    <p:extLst>
      <p:ext uri="{BB962C8B-B14F-4D97-AF65-F5344CB8AC3E}">
        <p14:creationId xmlns:p14="http://schemas.microsoft.com/office/powerpoint/2010/main" val="20514434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8778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Appendix: Python / py3270 Open-Source POC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097280"/>
            <a:ext cx="1051560" cy="109728"/>
          </a:xfrm>
          <a:prstGeom prst="round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A second branch demonstrates a lower-cost modernization path using Python, pytest, and direct TN3270 connectivity.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74720" cy="2011680"/>
          </a:xfrm>
          <a:prstGeom prst="roundRect">
            <a:avLst/>
          </a:prstGeom>
          <a:solidFill>
            <a:srgbClr val="DBEAF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901952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E40AF"/>
                </a:solidFill>
              </a:defRPr>
            </a:pPr>
            <a:r>
              <a:t>What this POC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76272"/>
            <a:ext cx="320040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Branch: python_based_open_source_poc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Stack: Python 3.10+, py3270, pytest, pytest-html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Direct TN3270 over s3270 subprocess, no LeanFT, no HLLAPI, no emulator license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828800"/>
            <a:ext cx="3474720" cy="2011680"/>
          </a:xfrm>
          <a:prstGeom prst="roundRect">
            <a:avLst/>
          </a:prstGeom>
          <a:solidFill>
            <a:srgbClr val="DCFCE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07992" y="1901952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66534"/>
                </a:solidFill>
              </a:defRPr>
            </a:pPr>
            <a:r>
              <a:t>Architecture in one 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7992" y="2176272"/>
            <a:ext cx="320040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pytest suite -&gt; runner.py -&gt; terminal_helper.py -&gt; py3270 -&gt; s3270 -&gt; TN3270 socket -&gt; mainframe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The same layered model is retained: config, driver, action layer, object repository, test data, reporting, and Jenkins CI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1828800"/>
            <a:ext cx="3474720" cy="2011680"/>
          </a:xfrm>
          <a:prstGeom prst="roundRect">
            <a:avLst/>
          </a:prstGeom>
          <a:solidFill>
            <a:srgbClr val="FFEDD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47304" y="1901952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59250C"/>
                </a:solidFill>
              </a:defRPr>
            </a:pPr>
            <a:r>
              <a:t>Why mention it to the client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47304" y="2176272"/>
            <a:ext cx="320040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Zero licensing cost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Headless execution model suited for CI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Useful as an alternate modernization option if BOA prefers open-source tooling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297680"/>
            <a:ext cx="3474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</a:defRPr>
            </a:pPr>
            <a:r>
              <a:t>Key differences from the LeanFT POC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572000"/>
            <a:ext cx="521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Python instead of JavaScript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pytest instead of Jasmine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Direct socket connectivity instead of emulator-driven HLLAPI automation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526280"/>
            <a:ext cx="4983480" cy="1005840"/>
          </a:xfrm>
          <a:prstGeom prst="roundRect">
            <a:avLst/>
          </a:prstGeom>
          <a:solidFill>
            <a:srgbClr val="FEF9C3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46520" y="4773168"/>
            <a:ext cx="4526280" cy="6924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59250C"/>
                </a:solidFill>
              </a:defRPr>
            </a:pPr>
            <a:r>
              <a:rPr lang="en-US" dirty="0"/>
              <a:t>T</a:t>
            </a:r>
            <a:r>
              <a:rPr dirty="0"/>
              <a:t>his as an optional open-source alternate path, not a replacement for the primary </a:t>
            </a:r>
            <a:r>
              <a:rPr dirty="0" err="1"/>
              <a:t>LeanFT</a:t>
            </a:r>
            <a:r>
              <a:rPr dirty="0"/>
              <a:t> migration story unless BOA wants a no-license model.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10528"/>
            <a:ext cx="12191695" cy="54864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655624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Ascendion | BOA Jarvis to LeanFT JavaScript Migration Plan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537960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8778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Appendix: Java / LeanFT POC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097280"/>
            <a:ext cx="1051560" cy="109728"/>
          </a:xfrm>
          <a:prstGeom prst="round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This branch also shows a Java-based LeanFT implementation for teams that prefer a Java and Maven stack.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74720" cy="2011680"/>
          </a:xfrm>
          <a:prstGeom prst="roundRect">
            <a:avLst/>
          </a:prstGeom>
          <a:solidFill>
            <a:srgbClr val="DBEAF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901952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E40AF"/>
                </a:solidFill>
              </a:defRPr>
            </a:pPr>
            <a:r>
              <a:t>What this POC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76272"/>
            <a:ext cx="320040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Stack: Java 11+, LeanFT runtime engine, TestNG, Maven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Main files: BaseTest.java, TerminalHelper.java, Screens.java, FtdMainframeTest.java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LeanFT HTML reporting with screenshots and step logs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828800"/>
            <a:ext cx="3474720" cy="2011680"/>
          </a:xfrm>
          <a:prstGeom prst="roundRect">
            <a:avLst/>
          </a:prstGeom>
          <a:solidFill>
            <a:srgbClr val="DCFCE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07992" y="1901952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66534"/>
                </a:solidFill>
              </a:defRPr>
            </a:pPr>
            <a:r>
              <a:t>Architecture in one 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7992" y="2176272"/>
            <a:ext cx="320040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TestNG suite -&gt; BaseTest -&gt; TerminalHelper -&gt; LeanFT TE SDK -&gt; terminal emulator session -&gt; mainframe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The same layered model is preserved with config, data provider, object repository, action layer, reporting, and Jenkins CI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1828800"/>
            <a:ext cx="3474720" cy="2011680"/>
          </a:xfrm>
          <a:prstGeom prst="roundRect">
            <a:avLst/>
          </a:prstGeom>
          <a:solidFill>
            <a:srgbClr val="FFEDD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47304" y="1901952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59250C"/>
                </a:solidFill>
              </a:defRPr>
            </a:pPr>
            <a:r>
              <a:t>Why mention it to the client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47304" y="2176272"/>
            <a:ext cx="320040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Suitable if BOA has stronger Java engineering alignment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Fits enterprise Maven and TestNG delivery patterns</a:t>
            </a:r>
          </a:p>
          <a:p>
            <a:pPr>
              <a:spcAft>
                <a:spcPts val="300"/>
              </a:spcAft>
              <a:defRPr sz="1100">
                <a:solidFill>
                  <a:srgbClr val="1F2937"/>
                </a:solidFill>
              </a:defRPr>
            </a:pPr>
            <a:r>
              <a:t>Still modernizes Jarvis while staying within the LeanFT ecosystem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297680"/>
            <a:ext cx="374903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</a:defRPr>
            </a:pPr>
            <a:r>
              <a:t>Key characteristics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572000"/>
            <a:ext cx="53035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Java instead of JavaScript or Python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TestNG and Maven instead of Jasmine or pytest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Requires LeanFT runtime and terminal emulator-based execution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526280"/>
            <a:ext cx="4983480" cy="1005840"/>
          </a:xfrm>
          <a:prstGeom prst="roundRect">
            <a:avLst/>
          </a:prstGeom>
          <a:solidFill>
            <a:srgbClr val="FEF9C3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46520" y="4736592"/>
            <a:ext cx="4526280" cy="6924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59250C"/>
                </a:solidFill>
              </a:defRPr>
            </a:pPr>
            <a:r>
              <a:rPr lang="en-US" dirty="0"/>
              <a:t>T</a:t>
            </a:r>
            <a:r>
              <a:rPr dirty="0"/>
              <a:t>his</a:t>
            </a:r>
            <a:r>
              <a:rPr lang="en-US" dirty="0"/>
              <a:t> is a </a:t>
            </a:r>
            <a:r>
              <a:rPr dirty="0"/>
              <a:t>second </a:t>
            </a:r>
            <a:r>
              <a:rPr dirty="0" err="1"/>
              <a:t>LeanFT</a:t>
            </a:r>
            <a:r>
              <a:rPr dirty="0"/>
              <a:t>-based option for teams that want a typed Java stack and Maven-style enterprise delivery rather than the JavaScript implementation.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10528"/>
            <a:ext cx="12191695" cy="54864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655624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Ascendion | BOA Jarvis to LeanFT JavaScript Migration Plan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537960"/>
            <a:ext cx="365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2029</Words>
  <Application>Microsoft Office PowerPoint</Application>
  <PresentationFormat>Widescreen</PresentationFormat>
  <Paragraphs>281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Viplove Bisen</cp:lastModifiedBy>
  <cp:revision>1</cp:revision>
  <dcterms:created xsi:type="dcterms:W3CDTF">2013-01-27T09:14:16Z</dcterms:created>
  <dcterms:modified xsi:type="dcterms:W3CDTF">2026-04-22T06:25:15Z</dcterms:modified>
  <cp:category/>
</cp:coreProperties>
</file>